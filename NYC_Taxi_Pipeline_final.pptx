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063" autoAdjust="0"/>
  </p:normalViewPr>
  <p:slideViewPr>
    <p:cSldViewPr snapToGrid="0" snapToObjects="1">
      <p:cViewPr>
        <p:scale>
          <a:sx n="90" d="100"/>
          <a:sy n="90" d="100"/>
        </p:scale>
        <p:origin x="1356" y="-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43779B-E070-4C61-928F-FE4600C7A42C}"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739EAA-C103-4210-A9E3-ADEB04A44A04}" type="slidenum">
              <a:rPr lang="en-US" smtClean="0"/>
              <a:t>‹#›</a:t>
            </a:fld>
            <a:endParaRPr lang="en-US"/>
          </a:p>
        </p:txBody>
      </p:sp>
    </p:spTree>
    <p:extLst>
      <p:ext uri="{BB962C8B-B14F-4D97-AF65-F5344CB8AC3E}">
        <p14:creationId xmlns:p14="http://schemas.microsoft.com/office/powerpoint/2010/main" val="99874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My project is the NYC Taxi Trip Analysis System . a full end-to-end Big Data pipeline built to ingest, process, and analyse 50,000 New York City taxi trip records in real time.</a:t>
            </a:r>
          </a:p>
          <a:p>
            <a:r>
              <a:rPr lang="en-GB" dirty="0"/>
              <a:t>The entire system runs inside Docker on a local machine, using five technologies: Kafka for message streaming, Apache Spark for processing, HDFS for distributed storage, MapReduce for batch analytics, and Python as the producer that feeds data into the pipeline.</a:t>
            </a:r>
          </a:p>
          <a:p>
            <a:r>
              <a:rPr lang="en-GB" dirty="0"/>
              <a:t>In total, the system runs 8 Docker containers, uses 2 dedicated Spark workers, and produces results through 3 separate MapReduce jobs.</a:t>
            </a:r>
          </a:p>
          <a:p>
            <a:r>
              <a:rPr lang="en-GB" dirty="0"/>
              <a:t>Let me start by explaining why this project exists.</a:t>
            </a:r>
          </a:p>
          <a:p>
            <a:endParaRPr lang="en-US" dirty="0"/>
          </a:p>
        </p:txBody>
      </p:sp>
      <p:sp>
        <p:nvSpPr>
          <p:cNvPr id="4" name="Slide Number Placeholder 3"/>
          <p:cNvSpPr>
            <a:spLocks noGrp="1"/>
          </p:cNvSpPr>
          <p:nvPr>
            <p:ph type="sldNum" sz="quarter" idx="5"/>
          </p:nvPr>
        </p:nvSpPr>
        <p:spPr/>
        <p:txBody>
          <a:bodyPr/>
          <a:lstStyle/>
          <a:p>
            <a:fld id="{CC739EAA-C103-4210-A9E3-ADEB04A44A04}" type="slidenum">
              <a:rPr lang="en-US" smtClean="0"/>
              <a:t>1</a:t>
            </a:fld>
            <a:endParaRPr lang="en-US"/>
          </a:p>
        </p:txBody>
      </p:sp>
    </p:spTree>
    <p:extLst>
      <p:ext uri="{BB962C8B-B14F-4D97-AF65-F5344CB8AC3E}">
        <p14:creationId xmlns:p14="http://schemas.microsoft.com/office/powerpoint/2010/main" val="417628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building anything, we need to understand the problem….</a:t>
            </a:r>
            <a:endParaRPr lang="en-US" dirty="0"/>
          </a:p>
        </p:txBody>
      </p:sp>
      <p:sp>
        <p:nvSpPr>
          <p:cNvPr id="4" name="Slide Number Placeholder 3"/>
          <p:cNvSpPr>
            <a:spLocks noGrp="1"/>
          </p:cNvSpPr>
          <p:nvPr>
            <p:ph type="sldNum" sz="quarter" idx="5"/>
          </p:nvPr>
        </p:nvSpPr>
        <p:spPr/>
        <p:txBody>
          <a:bodyPr/>
          <a:lstStyle/>
          <a:p>
            <a:fld id="{CC739EAA-C103-4210-A9E3-ADEB04A44A04}" type="slidenum">
              <a:rPr lang="en-US" smtClean="0"/>
              <a:t>2</a:t>
            </a:fld>
            <a:endParaRPr lang="en-US"/>
          </a:p>
        </p:txBody>
      </p:sp>
    </p:spTree>
    <p:extLst>
      <p:ext uri="{BB962C8B-B14F-4D97-AF65-F5344CB8AC3E}">
        <p14:creationId xmlns:p14="http://schemas.microsoft.com/office/powerpoint/2010/main" val="3563368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pipeline works with two input files.</a:t>
            </a:r>
          </a:p>
          <a:p>
            <a:r>
              <a:rPr lang="en-GB" dirty="0"/>
              <a:t>The first is taxi_sample.csv — 50,000 rows, 18 columns, NYC Yellow Cab trips from January 2020. I want to point out a few important things about this file.</a:t>
            </a:r>
          </a:p>
          <a:p>
            <a:r>
              <a:rPr lang="en-GB" dirty="0"/>
              <a:t>The pickup and </a:t>
            </a:r>
            <a:r>
              <a:rPr lang="en-GB" dirty="0" err="1"/>
              <a:t>dropoff</a:t>
            </a:r>
            <a:r>
              <a:rPr lang="en-GB" dirty="0"/>
              <a:t> datetimes arrive as raw strings like '1/1/2020 0:28' — they need to be properly cast before we can compute trip duration…..</a:t>
            </a:r>
            <a:br>
              <a:rPr lang="en-GB" dirty="0"/>
            </a:br>
            <a:br>
              <a:rPr lang="en-GB" dirty="0"/>
            </a:br>
            <a:r>
              <a:rPr lang="en-GB" dirty="0"/>
              <a:t>The reason this join matters is precisely this: the trip file only contains </a:t>
            </a:r>
            <a:r>
              <a:rPr lang="en-GB" dirty="0" err="1"/>
              <a:t>PULocationID</a:t>
            </a:r>
            <a:r>
              <a:rPr lang="en-GB" dirty="0"/>
              <a:t> equals 238. Without the zone lookup, we have no idea that 238 means 'Upper West Side, Manhattan'. And without the borough name, none of our three MapReduce jobs can group results by borough.</a:t>
            </a:r>
          </a:p>
          <a:p>
            <a:r>
              <a:rPr lang="en-GB" dirty="0"/>
              <a:t>Spark performs this join during streaming, so every record written to HDFS already carries the pickup borough, </a:t>
            </a:r>
            <a:r>
              <a:rPr lang="en-GB" dirty="0" err="1"/>
              <a:t>dropoff</a:t>
            </a:r>
            <a:r>
              <a:rPr lang="en-GB" dirty="0"/>
              <a:t> borough, pickup zone, and </a:t>
            </a:r>
            <a:r>
              <a:rPr lang="en-GB" dirty="0" err="1"/>
              <a:t>dropoff</a:t>
            </a:r>
            <a:r>
              <a:rPr lang="en-GB" dirty="0"/>
              <a:t> zone."</a:t>
            </a:r>
          </a:p>
          <a:p>
            <a:endParaRPr lang="en-GB" dirty="0"/>
          </a:p>
          <a:p>
            <a:endParaRPr lang="en-US" dirty="0"/>
          </a:p>
        </p:txBody>
      </p:sp>
      <p:sp>
        <p:nvSpPr>
          <p:cNvPr id="4" name="Slide Number Placeholder 3"/>
          <p:cNvSpPr>
            <a:spLocks noGrp="1"/>
          </p:cNvSpPr>
          <p:nvPr>
            <p:ph type="sldNum" sz="quarter" idx="5"/>
          </p:nvPr>
        </p:nvSpPr>
        <p:spPr/>
        <p:txBody>
          <a:bodyPr/>
          <a:lstStyle/>
          <a:p>
            <a:fld id="{CC739EAA-C103-4210-A9E3-ADEB04A44A04}" type="slidenum">
              <a:rPr lang="en-US" smtClean="0"/>
              <a:t>3</a:t>
            </a:fld>
            <a:endParaRPr lang="en-US"/>
          </a:p>
        </p:txBody>
      </p:sp>
    </p:spTree>
    <p:extLst>
      <p:ext uri="{BB962C8B-B14F-4D97-AF65-F5344CB8AC3E}">
        <p14:creationId xmlns:p14="http://schemas.microsoft.com/office/powerpoint/2010/main" val="3134458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Everything runs inside 8 Docker containers on a single docker-compose network called taxi-net</a:t>
            </a:r>
          </a:p>
          <a:p>
            <a:endParaRPr lang="en-GB" dirty="0"/>
          </a:p>
          <a:p>
            <a:r>
              <a:rPr lang="en-GB" dirty="0"/>
              <a:t>I want to highlight four key design decisions.</a:t>
            </a:r>
          </a:p>
          <a:p>
            <a:r>
              <a:rPr lang="en-GB" dirty="0"/>
              <a:t>Kafka decouples the producer from Spark — if Spark is slow, messages queue safely in Kafka and nothing is lost.</a:t>
            </a:r>
          </a:p>
          <a:p>
            <a:r>
              <a:rPr lang="en-GB" dirty="0"/>
              <a:t>The two Spark workers each have exactly one core assigned. Worker 1 is dedicated to streaming, Worker 2 is dedicated to MapReduce. This avoids resource conflicts when both are running at the same time.</a:t>
            </a:r>
          </a:p>
          <a:p>
            <a:r>
              <a:rPr lang="en-GB" dirty="0"/>
              <a:t>We use a Spark Broadcast join for the zone lookup. Because the zone table is only 265 rows, Spark sends a full copy to every worker node so each partition can join locally — no expensive network shuffle of the large stream.</a:t>
            </a:r>
          </a:p>
          <a:p>
            <a:r>
              <a:rPr lang="en-GB" dirty="0"/>
              <a:t>And finally, we use Parquet as the output format — columnar, compressed, and schema-embedded — which means MapReduce reads only the columns it needs, making the batch jobs significantly faster.</a:t>
            </a:r>
          </a:p>
          <a:p>
            <a:endParaRPr lang="en-US" dirty="0"/>
          </a:p>
        </p:txBody>
      </p:sp>
      <p:sp>
        <p:nvSpPr>
          <p:cNvPr id="4" name="Slide Number Placeholder 3"/>
          <p:cNvSpPr>
            <a:spLocks noGrp="1"/>
          </p:cNvSpPr>
          <p:nvPr>
            <p:ph type="sldNum" sz="quarter" idx="5"/>
          </p:nvPr>
        </p:nvSpPr>
        <p:spPr/>
        <p:txBody>
          <a:bodyPr/>
          <a:lstStyle/>
          <a:p>
            <a:fld id="{CC739EAA-C103-4210-A9E3-ADEB04A44A04}" type="slidenum">
              <a:rPr lang="en-US" smtClean="0"/>
              <a:t>4</a:t>
            </a:fld>
            <a:endParaRPr lang="en-US"/>
          </a:p>
        </p:txBody>
      </p:sp>
    </p:spTree>
    <p:extLst>
      <p:ext uri="{BB962C8B-B14F-4D97-AF65-F5344CB8AC3E}">
        <p14:creationId xmlns:p14="http://schemas.microsoft.com/office/powerpoint/2010/main" val="1038278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use </a:t>
            </a:r>
            <a:r>
              <a:rPr lang="en-GB" dirty="0" err="1"/>
              <a:t>to_timestamp</a:t>
            </a:r>
            <a:r>
              <a:rPr lang="en-GB" dirty="0"/>
              <a:t> to cast the pickup and </a:t>
            </a:r>
            <a:r>
              <a:rPr lang="en-GB" dirty="0" err="1"/>
              <a:t>dropoff</a:t>
            </a:r>
            <a:r>
              <a:rPr lang="en-GB" dirty="0"/>
              <a:t> datetime strings to proper timestamp objects. From those two timestamps we compute </a:t>
            </a:r>
            <a:r>
              <a:rPr lang="en-GB" dirty="0" err="1"/>
              <a:t>trip_duration_min</a:t>
            </a:r>
            <a:r>
              <a:rPr lang="en-GB" dirty="0"/>
              <a:t> using </a:t>
            </a:r>
            <a:r>
              <a:rPr lang="en-GB" dirty="0" err="1"/>
              <a:t>unix_timestamp</a:t>
            </a:r>
            <a:r>
              <a:rPr lang="en-GB" dirty="0"/>
              <a:t> subtraction. And we derive a </a:t>
            </a:r>
            <a:r>
              <a:rPr lang="en-GB" dirty="0" err="1"/>
              <a:t>tip_pct</a:t>
            </a:r>
            <a:r>
              <a:rPr lang="en-GB" dirty="0"/>
              <a:t> column — tip divided by fare times 100. The schema is declared explicitly at the start, so Spark never needs to scan the data to infer types.</a:t>
            </a:r>
            <a:endParaRPr lang="en-US" dirty="0"/>
          </a:p>
        </p:txBody>
      </p:sp>
      <p:sp>
        <p:nvSpPr>
          <p:cNvPr id="4" name="Slide Number Placeholder 3"/>
          <p:cNvSpPr>
            <a:spLocks noGrp="1"/>
          </p:cNvSpPr>
          <p:nvPr>
            <p:ph type="sldNum" sz="quarter" idx="5"/>
          </p:nvPr>
        </p:nvSpPr>
        <p:spPr/>
        <p:txBody>
          <a:bodyPr/>
          <a:lstStyle/>
          <a:p>
            <a:fld id="{CC739EAA-C103-4210-A9E3-ADEB04A44A04}" type="slidenum">
              <a:rPr lang="en-US" smtClean="0"/>
              <a:t>6</a:t>
            </a:fld>
            <a:endParaRPr lang="en-US"/>
          </a:p>
        </p:txBody>
      </p:sp>
    </p:spTree>
    <p:extLst>
      <p:ext uri="{BB962C8B-B14F-4D97-AF65-F5344CB8AC3E}">
        <p14:creationId xmlns:p14="http://schemas.microsoft.com/office/powerpoint/2010/main" val="1489327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739EAA-C103-4210-A9E3-ADEB04A44A04}" type="slidenum">
              <a:rPr lang="en-US" smtClean="0"/>
              <a:t>10</a:t>
            </a:fld>
            <a:endParaRPr lang="en-US"/>
          </a:p>
        </p:txBody>
      </p:sp>
    </p:spTree>
    <p:extLst>
      <p:ext uri="{BB962C8B-B14F-4D97-AF65-F5344CB8AC3E}">
        <p14:creationId xmlns:p14="http://schemas.microsoft.com/office/powerpoint/2010/main" val="1134187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0" cy="6858000"/>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0" y="0"/>
            <a:ext cx="91440"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005840"/>
            <a:ext cx="3749039" cy="594360"/>
          </a:xfrm>
          <a:prstGeom prst="rect">
            <a:avLst/>
          </a:prstGeom>
          <a:solidFill>
            <a:srgbClr val="FFC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45920"/>
            <a:ext cx="3749039" cy="1371600"/>
          </a:xfrm>
          <a:prstGeom prst="rect">
            <a:avLst/>
          </a:prstGeom>
          <a:solidFill>
            <a:srgbClr val="FFC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3017520"/>
            <a:ext cx="468629"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34390" y="3017520"/>
            <a:ext cx="468629" cy="29260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303019" y="3017520"/>
            <a:ext cx="468629"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71650" y="3017520"/>
            <a:ext cx="468629" cy="29260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240279" y="3017520"/>
            <a:ext cx="468629"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08910" y="3017520"/>
            <a:ext cx="468629" cy="29260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177539" y="3017520"/>
            <a:ext cx="468629"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46169" y="3017520"/>
            <a:ext cx="468629" cy="29260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1024128"/>
            <a:ext cx="3749039" cy="566928"/>
          </a:xfrm>
          <a:prstGeom prst="rect">
            <a:avLst/>
          </a:prstGeom>
          <a:noFill/>
        </p:spPr>
        <p:txBody>
          <a:bodyPr wrap="square">
            <a:spAutoFit/>
          </a:bodyPr>
          <a:lstStyle/>
          <a:p>
            <a:pPr algn="ctr"/>
            <a:r>
              <a:rPr sz="4000" b="1" i="0">
                <a:solidFill>
                  <a:srgbClr val="0D1B2A"/>
                </a:solidFill>
                <a:latin typeface="Calibri"/>
              </a:rPr>
              <a:t>NYC</a:t>
            </a:r>
          </a:p>
        </p:txBody>
      </p:sp>
      <p:sp>
        <p:nvSpPr>
          <p:cNvPr id="16" name="TextBox 15"/>
          <p:cNvSpPr txBox="1"/>
          <p:nvPr/>
        </p:nvSpPr>
        <p:spPr>
          <a:xfrm>
            <a:off x="365760" y="1664208"/>
            <a:ext cx="3749039" cy="868680"/>
          </a:xfrm>
          <a:prstGeom prst="rect">
            <a:avLst/>
          </a:prstGeom>
          <a:noFill/>
        </p:spPr>
        <p:txBody>
          <a:bodyPr wrap="square">
            <a:spAutoFit/>
          </a:bodyPr>
          <a:lstStyle/>
          <a:p>
            <a:pPr algn="ctr"/>
            <a:r>
              <a:rPr sz="5200" b="1" i="0">
                <a:solidFill>
                  <a:srgbClr val="0D1B2A"/>
                </a:solidFill>
                <a:latin typeface="Calibri"/>
              </a:rPr>
              <a:t>TAXI</a:t>
            </a:r>
          </a:p>
        </p:txBody>
      </p:sp>
      <p:sp>
        <p:nvSpPr>
          <p:cNvPr id="17" name="TextBox 16"/>
          <p:cNvSpPr txBox="1"/>
          <p:nvPr/>
        </p:nvSpPr>
        <p:spPr>
          <a:xfrm>
            <a:off x="365760" y="2542032"/>
            <a:ext cx="3749039" cy="530352"/>
          </a:xfrm>
          <a:prstGeom prst="rect">
            <a:avLst/>
          </a:prstGeom>
          <a:noFill/>
        </p:spPr>
        <p:txBody>
          <a:bodyPr wrap="square">
            <a:spAutoFit/>
          </a:bodyPr>
          <a:lstStyle/>
          <a:p>
            <a:pPr algn="ctr"/>
            <a:r>
              <a:rPr sz="3200" b="1" i="0">
                <a:solidFill>
                  <a:srgbClr val="0D1B2A"/>
                </a:solidFill>
                <a:latin typeface="Calibri"/>
              </a:rPr>
              <a:t>PIPELINE</a:t>
            </a:r>
          </a:p>
        </p:txBody>
      </p:sp>
      <p:sp>
        <p:nvSpPr>
          <p:cNvPr id="18" name="TextBox 17"/>
          <p:cNvSpPr txBox="1"/>
          <p:nvPr/>
        </p:nvSpPr>
        <p:spPr>
          <a:xfrm>
            <a:off x="4846320" y="1005840"/>
            <a:ext cx="7040880" cy="457200"/>
          </a:xfrm>
          <a:prstGeom prst="rect">
            <a:avLst/>
          </a:prstGeom>
          <a:noFill/>
        </p:spPr>
        <p:txBody>
          <a:bodyPr wrap="square">
            <a:spAutoFit/>
          </a:bodyPr>
          <a:lstStyle/>
          <a:p>
            <a:pPr algn="l"/>
            <a:r>
              <a:rPr sz="1300" b="1" i="0">
                <a:solidFill>
                  <a:srgbClr val="00B4D8"/>
                </a:solidFill>
                <a:latin typeface="Calibri"/>
              </a:rPr>
              <a:t>Big Data Engineering Project</a:t>
            </a:r>
          </a:p>
        </p:txBody>
      </p:sp>
      <p:sp>
        <p:nvSpPr>
          <p:cNvPr id="19" name="TextBox 18"/>
          <p:cNvSpPr txBox="1"/>
          <p:nvPr/>
        </p:nvSpPr>
        <p:spPr>
          <a:xfrm>
            <a:off x="4846320" y="1463040"/>
            <a:ext cx="7040880" cy="1737360"/>
          </a:xfrm>
          <a:prstGeom prst="rect">
            <a:avLst/>
          </a:prstGeom>
          <a:noFill/>
        </p:spPr>
        <p:txBody>
          <a:bodyPr wrap="square">
            <a:spAutoFit/>
          </a:bodyPr>
          <a:lstStyle/>
          <a:p>
            <a:pPr algn="l"/>
            <a:r>
              <a:rPr sz="4000" b="1" i="0">
                <a:solidFill>
                  <a:srgbClr val="FFFFFF"/>
                </a:solidFill>
                <a:latin typeface="Calibri"/>
              </a:rPr>
              <a:t>NYC Taxi Trip
Analysis System</a:t>
            </a:r>
          </a:p>
        </p:txBody>
      </p:sp>
      <p:sp>
        <p:nvSpPr>
          <p:cNvPr id="20" name="TextBox 19"/>
          <p:cNvSpPr txBox="1"/>
          <p:nvPr/>
        </p:nvSpPr>
        <p:spPr>
          <a:xfrm>
            <a:off x="4846320" y="3246120"/>
            <a:ext cx="7040880" cy="1280160"/>
          </a:xfrm>
          <a:prstGeom prst="rect">
            <a:avLst/>
          </a:prstGeom>
          <a:noFill/>
        </p:spPr>
        <p:txBody>
          <a:bodyPr wrap="square">
            <a:spAutoFit/>
          </a:bodyPr>
          <a:lstStyle/>
          <a:p>
            <a:pPr algn="l"/>
            <a:r>
              <a:rPr sz="1600" b="0" i="0">
                <a:solidFill>
                  <a:srgbClr val="B0C4CE"/>
                </a:solidFill>
                <a:latin typeface="Calibri"/>
              </a:rPr>
              <a:t>A real-time streaming pipeline that ingests, processes,
and analyses 50,000 NYC Yellow Cab trip records
using Kafka · Spark · HDFS · MapReduce · Docker</a:t>
            </a:r>
          </a:p>
        </p:txBody>
      </p:sp>
      <p:sp>
        <p:nvSpPr>
          <p:cNvPr id="21" name="Rectangle 20"/>
          <p:cNvSpPr/>
          <p:nvPr/>
        </p:nvSpPr>
        <p:spPr>
          <a:xfrm>
            <a:off x="4663440" y="4937760"/>
            <a:ext cx="7360920" cy="1554480"/>
          </a:xfrm>
          <a:prstGeom prst="rect">
            <a:avLst/>
          </a:prstGeom>
          <a:solidFill>
            <a:srgbClr val="09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46320" y="5047488"/>
            <a:ext cx="1691640" cy="594360"/>
          </a:xfrm>
          <a:prstGeom prst="rect">
            <a:avLst/>
          </a:prstGeom>
          <a:noFill/>
        </p:spPr>
        <p:txBody>
          <a:bodyPr wrap="square">
            <a:spAutoFit/>
          </a:bodyPr>
          <a:lstStyle/>
          <a:p>
            <a:pPr algn="ctr"/>
            <a:r>
              <a:rPr sz="2800" b="1" i="0">
                <a:solidFill>
                  <a:srgbClr val="00B4D8"/>
                </a:solidFill>
                <a:latin typeface="Calibri"/>
              </a:rPr>
              <a:t>50,000</a:t>
            </a:r>
          </a:p>
        </p:txBody>
      </p:sp>
      <p:sp>
        <p:nvSpPr>
          <p:cNvPr id="23" name="TextBox 22"/>
          <p:cNvSpPr txBox="1"/>
          <p:nvPr/>
        </p:nvSpPr>
        <p:spPr>
          <a:xfrm>
            <a:off x="4846320" y="5669280"/>
            <a:ext cx="1691640" cy="457200"/>
          </a:xfrm>
          <a:prstGeom prst="rect">
            <a:avLst/>
          </a:prstGeom>
          <a:noFill/>
        </p:spPr>
        <p:txBody>
          <a:bodyPr wrap="square">
            <a:spAutoFit/>
          </a:bodyPr>
          <a:lstStyle/>
          <a:p>
            <a:pPr algn="ctr"/>
            <a:r>
              <a:rPr sz="1100" b="0" i="0">
                <a:solidFill>
                  <a:srgbClr val="B0C4CE"/>
                </a:solidFill>
                <a:latin typeface="Calibri"/>
              </a:rPr>
              <a:t>Trip Records</a:t>
            </a:r>
          </a:p>
        </p:txBody>
      </p:sp>
      <p:sp>
        <p:nvSpPr>
          <p:cNvPr id="24" name="TextBox 23"/>
          <p:cNvSpPr txBox="1"/>
          <p:nvPr/>
        </p:nvSpPr>
        <p:spPr>
          <a:xfrm>
            <a:off x="6675120" y="5047488"/>
            <a:ext cx="1691640" cy="594360"/>
          </a:xfrm>
          <a:prstGeom prst="rect">
            <a:avLst/>
          </a:prstGeom>
          <a:noFill/>
        </p:spPr>
        <p:txBody>
          <a:bodyPr wrap="square">
            <a:spAutoFit/>
          </a:bodyPr>
          <a:lstStyle/>
          <a:p>
            <a:pPr algn="ctr"/>
            <a:r>
              <a:rPr sz="2800" b="1" i="0">
                <a:solidFill>
                  <a:srgbClr val="00B4D8"/>
                </a:solidFill>
                <a:latin typeface="Calibri"/>
              </a:rPr>
              <a:t>8</a:t>
            </a:r>
          </a:p>
        </p:txBody>
      </p:sp>
      <p:sp>
        <p:nvSpPr>
          <p:cNvPr id="25" name="TextBox 24"/>
          <p:cNvSpPr txBox="1"/>
          <p:nvPr/>
        </p:nvSpPr>
        <p:spPr>
          <a:xfrm>
            <a:off x="6675120" y="5669280"/>
            <a:ext cx="1691640" cy="457200"/>
          </a:xfrm>
          <a:prstGeom prst="rect">
            <a:avLst/>
          </a:prstGeom>
          <a:noFill/>
        </p:spPr>
        <p:txBody>
          <a:bodyPr wrap="square">
            <a:spAutoFit/>
          </a:bodyPr>
          <a:lstStyle/>
          <a:p>
            <a:pPr algn="ctr"/>
            <a:r>
              <a:rPr sz="1100" b="0" i="0">
                <a:solidFill>
                  <a:srgbClr val="B0C4CE"/>
                </a:solidFill>
                <a:latin typeface="Calibri"/>
              </a:rPr>
              <a:t>Docker Containers</a:t>
            </a:r>
          </a:p>
        </p:txBody>
      </p:sp>
      <p:sp>
        <p:nvSpPr>
          <p:cNvPr id="26" name="TextBox 25"/>
          <p:cNvSpPr txBox="1"/>
          <p:nvPr/>
        </p:nvSpPr>
        <p:spPr>
          <a:xfrm>
            <a:off x="8503920" y="5047488"/>
            <a:ext cx="1691640" cy="594360"/>
          </a:xfrm>
          <a:prstGeom prst="rect">
            <a:avLst/>
          </a:prstGeom>
          <a:noFill/>
        </p:spPr>
        <p:txBody>
          <a:bodyPr wrap="square">
            <a:spAutoFit/>
          </a:bodyPr>
          <a:lstStyle/>
          <a:p>
            <a:pPr algn="ctr"/>
            <a:r>
              <a:rPr sz="2800" b="1" i="0">
                <a:solidFill>
                  <a:srgbClr val="00B4D8"/>
                </a:solidFill>
                <a:latin typeface="Calibri"/>
              </a:rPr>
              <a:t>2</a:t>
            </a:r>
          </a:p>
        </p:txBody>
      </p:sp>
      <p:sp>
        <p:nvSpPr>
          <p:cNvPr id="27" name="TextBox 26"/>
          <p:cNvSpPr txBox="1"/>
          <p:nvPr/>
        </p:nvSpPr>
        <p:spPr>
          <a:xfrm>
            <a:off x="8503920" y="5669280"/>
            <a:ext cx="1691640" cy="457200"/>
          </a:xfrm>
          <a:prstGeom prst="rect">
            <a:avLst/>
          </a:prstGeom>
          <a:noFill/>
        </p:spPr>
        <p:txBody>
          <a:bodyPr wrap="square">
            <a:spAutoFit/>
          </a:bodyPr>
          <a:lstStyle/>
          <a:p>
            <a:pPr algn="ctr"/>
            <a:r>
              <a:rPr sz="1100" b="0" i="0">
                <a:solidFill>
                  <a:srgbClr val="B0C4CE"/>
                </a:solidFill>
                <a:latin typeface="Calibri"/>
              </a:rPr>
              <a:t>Spark Workers</a:t>
            </a:r>
          </a:p>
        </p:txBody>
      </p:sp>
      <p:sp>
        <p:nvSpPr>
          <p:cNvPr id="28" name="TextBox 27"/>
          <p:cNvSpPr txBox="1"/>
          <p:nvPr/>
        </p:nvSpPr>
        <p:spPr>
          <a:xfrm>
            <a:off x="10332720" y="5047488"/>
            <a:ext cx="1691640" cy="594360"/>
          </a:xfrm>
          <a:prstGeom prst="rect">
            <a:avLst/>
          </a:prstGeom>
          <a:noFill/>
        </p:spPr>
        <p:txBody>
          <a:bodyPr wrap="square">
            <a:spAutoFit/>
          </a:bodyPr>
          <a:lstStyle/>
          <a:p>
            <a:pPr algn="ctr"/>
            <a:r>
              <a:rPr sz="2800" b="1" i="0">
                <a:solidFill>
                  <a:srgbClr val="00B4D8"/>
                </a:solidFill>
                <a:latin typeface="Calibri"/>
              </a:rPr>
              <a:t>3</a:t>
            </a:r>
          </a:p>
        </p:txBody>
      </p:sp>
      <p:sp>
        <p:nvSpPr>
          <p:cNvPr id="29" name="TextBox 28"/>
          <p:cNvSpPr txBox="1"/>
          <p:nvPr/>
        </p:nvSpPr>
        <p:spPr>
          <a:xfrm>
            <a:off x="10332720" y="5669280"/>
            <a:ext cx="1691640" cy="457200"/>
          </a:xfrm>
          <a:prstGeom prst="rect">
            <a:avLst/>
          </a:prstGeom>
          <a:noFill/>
        </p:spPr>
        <p:txBody>
          <a:bodyPr wrap="square">
            <a:spAutoFit/>
          </a:bodyPr>
          <a:lstStyle/>
          <a:p>
            <a:pPr algn="ctr"/>
            <a:r>
              <a:rPr sz="1100" b="0" i="0">
                <a:solidFill>
                  <a:srgbClr val="B0C4CE"/>
                </a:solidFill>
                <a:latin typeface="Calibri"/>
              </a:rPr>
              <a:t>MapReduce Jobs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201168"/>
            <a:ext cx="7315200" cy="320040"/>
          </a:xfrm>
          <a:prstGeom prst="rect">
            <a:avLst/>
          </a:prstGeom>
          <a:noFill/>
        </p:spPr>
        <p:txBody>
          <a:bodyPr wrap="square">
            <a:spAutoFit/>
          </a:bodyPr>
          <a:lstStyle/>
          <a:p>
            <a:pPr algn="l"/>
            <a:r>
              <a:rPr sz="1100" b="1" i="0">
                <a:solidFill>
                  <a:srgbClr val="00B4D8"/>
                </a:solidFill>
                <a:latin typeface="Calibri"/>
              </a:rPr>
              <a:t>MOTIVATION</a:t>
            </a:r>
          </a:p>
        </p:txBody>
      </p:sp>
      <p:sp>
        <p:nvSpPr>
          <p:cNvPr id="5" name="TextBox 4"/>
          <p:cNvSpPr txBox="1"/>
          <p:nvPr/>
        </p:nvSpPr>
        <p:spPr>
          <a:xfrm>
            <a:off x="320040" y="530352"/>
            <a:ext cx="11521440" cy="685800"/>
          </a:xfrm>
          <a:prstGeom prst="rect">
            <a:avLst/>
          </a:prstGeom>
          <a:noFill/>
        </p:spPr>
        <p:txBody>
          <a:bodyPr wrap="square">
            <a:spAutoFit/>
          </a:bodyPr>
          <a:lstStyle/>
          <a:p>
            <a:pPr algn="l"/>
            <a:r>
              <a:rPr sz="3400" b="1" i="0">
                <a:solidFill>
                  <a:srgbClr val="FFFFFF"/>
                </a:solidFill>
                <a:latin typeface="Calibri"/>
              </a:rPr>
              <a:t>The Problem We Are Solving</a:t>
            </a:r>
          </a:p>
        </p:txBody>
      </p:sp>
      <p:sp>
        <p:nvSpPr>
          <p:cNvPr id="6" name="TextBox 5"/>
          <p:cNvSpPr txBox="1"/>
          <p:nvPr/>
        </p:nvSpPr>
        <p:spPr>
          <a:xfrm>
            <a:off x="320040" y="1389888"/>
            <a:ext cx="11521440" cy="1005840"/>
          </a:xfrm>
          <a:prstGeom prst="rect">
            <a:avLst/>
          </a:prstGeom>
          <a:noFill/>
        </p:spPr>
        <p:txBody>
          <a:bodyPr wrap="square">
            <a:spAutoFit/>
          </a:bodyPr>
          <a:lstStyle/>
          <a:p>
            <a:pPr algn="l"/>
            <a:r>
              <a:rPr sz="1500" b="0" i="0">
                <a:solidFill>
                  <a:srgbClr val="E8F4F8"/>
                </a:solidFill>
                <a:latin typeface="Calibri"/>
              </a:rPr>
              <a:t>NYC processes millions of taxi trips every day. Raw trip data arrives continuously from vehicle systems — but in its raw form it is useless: fields are strings, location IDs are meaningless numbers, bad records are mixed in with good ones, and there is no way to query it at borough level.</a:t>
            </a:r>
          </a:p>
        </p:txBody>
      </p:sp>
      <p:sp>
        <p:nvSpPr>
          <p:cNvPr id="7" name="Rectangle 6"/>
          <p:cNvSpPr/>
          <p:nvPr/>
        </p:nvSpPr>
        <p:spPr>
          <a:xfrm>
            <a:off x="320040" y="2606040"/>
            <a:ext cx="3749039" cy="310896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2606040"/>
            <a:ext cx="91440" cy="310896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697480"/>
            <a:ext cx="548640" cy="502920"/>
          </a:xfrm>
          <a:prstGeom prst="rect">
            <a:avLst/>
          </a:prstGeom>
          <a:noFill/>
        </p:spPr>
        <p:txBody>
          <a:bodyPr wrap="square">
            <a:spAutoFit/>
          </a:bodyPr>
          <a:lstStyle/>
          <a:p>
            <a:pPr algn="l"/>
            <a:r>
              <a:rPr sz="2200" b="0" i="0">
                <a:solidFill>
                  <a:srgbClr val="FF8C42"/>
                </a:solidFill>
                <a:latin typeface="Calibri"/>
              </a:rPr>
              <a:t>⚠</a:t>
            </a:r>
          </a:p>
        </p:txBody>
      </p:sp>
      <p:sp>
        <p:nvSpPr>
          <p:cNvPr id="10" name="TextBox 9"/>
          <p:cNvSpPr txBox="1"/>
          <p:nvPr/>
        </p:nvSpPr>
        <p:spPr>
          <a:xfrm>
            <a:off x="1097280" y="2724912"/>
            <a:ext cx="2834640" cy="438912"/>
          </a:xfrm>
          <a:prstGeom prst="rect">
            <a:avLst/>
          </a:prstGeom>
          <a:noFill/>
        </p:spPr>
        <p:txBody>
          <a:bodyPr wrap="square">
            <a:spAutoFit/>
          </a:bodyPr>
          <a:lstStyle/>
          <a:p>
            <a:pPr algn="l"/>
            <a:r>
              <a:rPr sz="1500" b="1" i="0">
                <a:solidFill>
                  <a:srgbClr val="FF8C42"/>
                </a:solidFill>
                <a:latin typeface="Calibri"/>
              </a:rPr>
              <a:t>No Real-Time Ingestion</a:t>
            </a:r>
          </a:p>
        </p:txBody>
      </p:sp>
      <p:sp>
        <p:nvSpPr>
          <p:cNvPr id="11" name="TextBox 10"/>
          <p:cNvSpPr txBox="1"/>
          <p:nvPr/>
        </p:nvSpPr>
        <p:spPr>
          <a:xfrm>
            <a:off x="521207" y="3218688"/>
            <a:ext cx="3429000" cy="2286000"/>
          </a:xfrm>
          <a:prstGeom prst="rect">
            <a:avLst/>
          </a:prstGeom>
          <a:noFill/>
        </p:spPr>
        <p:txBody>
          <a:bodyPr wrap="square">
            <a:spAutoFit/>
          </a:bodyPr>
          <a:lstStyle/>
          <a:p>
            <a:pPr algn="l"/>
            <a:r>
              <a:rPr sz="1300" b="0" i="0">
                <a:solidFill>
                  <a:srgbClr val="B0C4CE"/>
                </a:solidFill>
                <a:latin typeface="Calibri"/>
              </a:rPr>
              <a:t>Data sits in a flat CSV file. There is no streaming mechanism to feed it into a processing system as it arrives. A traditional approach would require loading the full file into memory each time — not scalable.</a:t>
            </a:r>
          </a:p>
        </p:txBody>
      </p:sp>
      <p:sp>
        <p:nvSpPr>
          <p:cNvPr id="12" name="Rectangle 11"/>
          <p:cNvSpPr/>
          <p:nvPr/>
        </p:nvSpPr>
        <p:spPr>
          <a:xfrm>
            <a:off x="4251959" y="2606040"/>
            <a:ext cx="3749039" cy="310896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59" y="2606040"/>
            <a:ext cx="91440" cy="310896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0559" y="2697480"/>
            <a:ext cx="548640" cy="502920"/>
          </a:xfrm>
          <a:prstGeom prst="rect">
            <a:avLst/>
          </a:prstGeom>
          <a:noFill/>
        </p:spPr>
        <p:txBody>
          <a:bodyPr wrap="square">
            <a:spAutoFit/>
          </a:bodyPr>
          <a:lstStyle/>
          <a:p>
            <a:pPr algn="l"/>
            <a:r>
              <a:rPr sz="2200" b="0" i="0">
                <a:solidFill>
                  <a:srgbClr val="FF8C42"/>
                </a:solidFill>
                <a:latin typeface="Calibri"/>
              </a:rPr>
              <a:t>⚠</a:t>
            </a:r>
          </a:p>
        </p:txBody>
      </p:sp>
      <p:sp>
        <p:nvSpPr>
          <p:cNvPr id="15" name="TextBox 14"/>
          <p:cNvSpPr txBox="1"/>
          <p:nvPr/>
        </p:nvSpPr>
        <p:spPr>
          <a:xfrm>
            <a:off x="5029199" y="2724912"/>
            <a:ext cx="2834640" cy="438912"/>
          </a:xfrm>
          <a:prstGeom prst="rect">
            <a:avLst/>
          </a:prstGeom>
          <a:noFill/>
        </p:spPr>
        <p:txBody>
          <a:bodyPr wrap="square">
            <a:spAutoFit/>
          </a:bodyPr>
          <a:lstStyle/>
          <a:p>
            <a:pPr algn="l"/>
            <a:r>
              <a:rPr sz="1500" b="1" i="0">
                <a:solidFill>
                  <a:srgbClr val="FF8C42"/>
                </a:solidFill>
                <a:latin typeface="Calibri"/>
              </a:rPr>
              <a:t>Dirty &amp; Untyped Data</a:t>
            </a:r>
          </a:p>
        </p:txBody>
      </p:sp>
      <p:sp>
        <p:nvSpPr>
          <p:cNvPr id="16" name="TextBox 15"/>
          <p:cNvSpPr txBox="1"/>
          <p:nvPr/>
        </p:nvSpPr>
        <p:spPr>
          <a:xfrm>
            <a:off x="4453127" y="3218688"/>
            <a:ext cx="3429000" cy="2286000"/>
          </a:xfrm>
          <a:prstGeom prst="rect">
            <a:avLst/>
          </a:prstGeom>
          <a:noFill/>
        </p:spPr>
        <p:txBody>
          <a:bodyPr wrap="square">
            <a:spAutoFit/>
          </a:bodyPr>
          <a:lstStyle/>
          <a:p>
            <a:pPr algn="l"/>
            <a:r>
              <a:rPr sz="1300" b="0" i="0">
                <a:solidFill>
                  <a:srgbClr val="B0C4CE"/>
                </a:solidFill>
                <a:latin typeface="Calibri"/>
              </a:rPr>
              <a:t>Every field is a raw string. Fares can be negative. Distances can be zero. Passenger counts can be impossible. There are no borough names — only opaque numeric Location IDs that mean nothing on their own.</a:t>
            </a:r>
          </a:p>
        </p:txBody>
      </p:sp>
      <p:sp>
        <p:nvSpPr>
          <p:cNvPr id="17" name="Rectangle 16"/>
          <p:cNvSpPr/>
          <p:nvPr/>
        </p:nvSpPr>
        <p:spPr>
          <a:xfrm>
            <a:off x="8183879" y="2606040"/>
            <a:ext cx="3749039" cy="310896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83879" y="2606040"/>
            <a:ext cx="91440" cy="310896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2697480"/>
            <a:ext cx="548640" cy="502920"/>
          </a:xfrm>
          <a:prstGeom prst="rect">
            <a:avLst/>
          </a:prstGeom>
          <a:noFill/>
        </p:spPr>
        <p:txBody>
          <a:bodyPr wrap="square">
            <a:spAutoFit/>
          </a:bodyPr>
          <a:lstStyle/>
          <a:p>
            <a:pPr algn="l"/>
            <a:r>
              <a:rPr sz="2200" b="0" i="0">
                <a:solidFill>
                  <a:srgbClr val="FF8C42"/>
                </a:solidFill>
                <a:latin typeface="Calibri"/>
              </a:rPr>
              <a:t>⚠</a:t>
            </a:r>
          </a:p>
        </p:txBody>
      </p:sp>
      <p:sp>
        <p:nvSpPr>
          <p:cNvPr id="20" name="TextBox 19"/>
          <p:cNvSpPr txBox="1"/>
          <p:nvPr/>
        </p:nvSpPr>
        <p:spPr>
          <a:xfrm>
            <a:off x="8961119" y="2724912"/>
            <a:ext cx="2834640" cy="438912"/>
          </a:xfrm>
          <a:prstGeom prst="rect">
            <a:avLst/>
          </a:prstGeom>
          <a:noFill/>
        </p:spPr>
        <p:txBody>
          <a:bodyPr wrap="square">
            <a:spAutoFit/>
          </a:bodyPr>
          <a:lstStyle/>
          <a:p>
            <a:pPr algn="l"/>
            <a:r>
              <a:rPr sz="1500" b="1" i="0">
                <a:solidFill>
                  <a:srgbClr val="FF8C42"/>
                </a:solidFill>
                <a:latin typeface="Calibri"/>
              </a:rPr>
              <a:t>No Analytical Layer</a:t>
            </a:r>
          </a:p>
        </p:txBody>
      </p:sp>
      <p:sp>
        <p:nvSpPr>
          <p:cNvPr id="21" name="TextBox 20"/>
          <p:cNvSpPr txBox="1"/>
          <p:nvPr/>
        </p:nvSpPr>
        <p:spPr>
          <a:xfrm>
            <a:off x="8385048" y="3218688"/>
            <a:ext cx="3429000" cy="2286000"/>
          </a:xfrm>
          <a:prstGeom prst="rect">
            <a:avLst/>
          </a:prstGeom>
          <a:noFill/>
        </p:spPr>
        <p:txBody>
          <a:bodyPr wrap="square">
            <a:spAutoFit/>
          </a:bodyPr>
          <a:lstStyle/>
          <a:p>
            <a:pPr algn="l"/>
            <a:r>
              <a:rPr sz="1300" b="0" i="0">
                <a:solidFill>
                  <a:srgbClr val="B0C4CE"/>
                </a:solidFill>
                <a:latin typeface="Calibri"/>
              </a:rPr>
              <a:t>There is no way to answer questions like: which borough generates the most revenue? How many anomalous trips came from Queens? A file-based approach cannot aggregate across 50,000 records efficiently.</a:t>
            </a:r>
          </a:p>
        </p:txBody>
      </p:sp>
      <p:sp>
        <p:nvSpPr>
          <p:cNvPr id="22" name="Rectangle 21"/>
          <p:cNvSpPr/>
          <p:nvPr/>
        </p:nvSpPr>
        <p:spPr>
          <a:xfrm>
            <a:off x="320040" y="5897880"/>
            <a:ext cx="11521440" cy="749808"/>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5961888"/>
            <a:ext cx="11155680" cy="621792"/>
          </a:xfrm>
          <a:prstGeom prst="rect">
            <a:avLst/>
          </a:prstGeom>
          <a:noFill/>
        </p:spPr>
        <p:txBody>
          <a:bodyPr wrap="square">
            <a:spAutoFit/>
          </a:bodyPr>
          <a:lstStyle/>
          <a:p>
            <a:pPr algn="l"/>
            <a:r>
              <a:rPr sz="1300" b="0" i="0">
                <a:solidFill>
                  <a:srgbClr val="FFFFFF"/>
                </a:solidFill>
                <a:latin typeface="Calibri"/>
              </a:rPr>
              <a:t>→  Our solution: a fully automated streaming pipeline that ingests records in real-time, cleans and enriches them, stores results in HDFS, and runs MapReduce jobs to answer borough-level analytical questions.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201168"/>
            <a:ext cx="7315200" cy="320040"/>
          </a:xfrm>
          <a:prstGeom prst="rect">
            <a:avLst/>
          </a:prstGeom>
          <a:noFill/>
        </p:spPr>
        <p:txBody>
          <a:bodyPr wrap="square">
            <a:spAutoFit/>
          </a:bodyPr>
          <a:lstStyle/>
          <a:p>
            <a:pPr algn="l"/>
            <a:r>
              <a:rPr sz="1100" b="1" i="0">
                <a:solidFill>
                  <a:srgbClr val="00B4D8"/>
                </a:solidFill>
                <a:latin typeface="Calibri"/>
              </a:rPr>
              <a:t>INPUT DATA</a:t>
            </a:r>
          </a:p>
        </p:txBody>
      </p:sp>
      <p:sp>
        <p:nvSpPr>
          <p:cNvPr id="5" name="TextBox 4"/>
          <p:cNvSpPr txBox="1"/>
          <p:nvPr/>
        </p:nvSpPr>
        <p:spPr>
          <a:xfrm>
            <a:off x="320040" y="530352"/>
            <a:ext cx="11521440" cy="685800"/>
          </a:xfrm>
          <a:prstGeom prst="rect">
            <a:avLst/>
          </a:prstGeom>
          <a:noFill/>
        </p:spPr>
        <p:txBody>
          <a:bodyPr wrap="square">
            <a:spAutoFit/>
          </a:bodyPr>
          <a:lstStyle/>
          <a:p>
            <a:pPr algn="l"/>
            <a:r>
              <a:rPr sz="3400" b="1" i="0">
                <a:solidFill>
                  <a:srgbClr val="FFFFFF"/>
                </a:solidFill>
                <a:latin typeface="Calibri"/>
              </a:rPr>
              <a:t>The Datasets</a:t>
            </a:r>
          </a:p>
        </p:txBody>
      </p:sp>
      <p:sp>
        <p:nvSpPr>
          <p:cNvPr id="6" name="Rectangle 5"/>
          <p:cNvSpPr/>
          <p:nvPr/>
        </p:nvSpPr>
        <p:spPr>
          <a:xfrm>
            <a:off x="320040" y="1417320"/>
            <a:ext cx="5486400" cy="516636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417320"/>
            <a:ext cx="91440" cy="5166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508760"/>
            <a:ext cx="5212080" cy="411480"/>
          </a:xfrm>
          <a:prstGeom prst="rect">
            <a:avLst/>
          </a:prstGeom>
          <a:noFill/>
        </p:spPr>
        <p:txBody>
          <a:bodyPr wrap="square">
            <a:spAutoFit/>
          </a:bodyPr>
          <a:lstStyle/>
          <a:p>
            <a:pPr algn="l"/>
            <a:r>
              <a:rPr sz="1700" b="1" i="0">
                <a:solidFill>
                  <a:srgbClr val="00B4D8"/>
                </a:solidFill>
                <a:latin typeface="Calibri"/>
              </a:rPr>
              <a:t>taxi_sample.csv</a:t>
            </a:r>
          </a:p>
        </p:txBody>
      </p:sp>
      <p:sp>
        <p:nvSpPr>
          <p:cNvPr id="9" name="TextBox 8"/>
          <p:cNvSpPr txBox="1"/>
          <p:nvPr/>
        </p:nvSpPr>
        <p:spPr>
          <a:xfrm>
            <a:off x="502920" y="1938528"/>
            <a:ext cx="5212080" cy="347472"/>
          </a:xfrm>
          <a:prstGeom prst="rect">
            <a:avLst/>
          </a:prstGeom>
          <a:noFill/>
        </p:spPr>
        <p:txBody>
          <a:bodyPr wrap="square">
            <a:spAutoFit/>
          </a:bodyPr>
          <a:lstStyle/>
          <a:p>
            <a:pPr algn="l"/>
            <a:r>
              <a:rPr sz="1300" b="0" i="0">
                <a:solidFill>
                  <a:srgbClr val="B0C4CE"/>
                </a:solidFill>
                <a:latin typeface="Calibri"/>
              </a:rPr>
              <a:t>50,000 rows · 18 columns · NYC Yellow Cab · January 2020</a:t>
            </a:r>
          </a:p>
        </p:txBody>
      </p:sp>
      <p:sp>
        <p:nvSpPr>
          <p:cNvPr id="10" name="TextBox 9"/>
          <p:cNvSpPr txBox="1"/>
          <p:nvPr/>
        </p:nvSpPr>
        <p:spPr>
          <a:xfrm>
            <a:off x="502920" y="2377440"/>
            <a:ext cx="2103120" cy="347472"/>
          </a:xfrm>
          <a:prstGeom prst="rect">
            <a:avLst/>
          </a:prstGeom>
          <a:noFill/>
        </p:spPr>
        <p:txBody>
          <a:bodyPr wrap="square">
            <a:spAutoFit/>
          </a:bodyPr>
          <a:lstStyle/>
          <a:p>
            <a:pPr algn="l"/>
            <a:r>
              <a:rPr sz="1200" b="0" i="0">
                <a:solidFill>
                  <a:srgbClr val="00B4D8"/>
                </a:solidFill>
                <a:latin typeface="Consolas"/>
              </a:rPr>
              <a:t>VendorID</a:t>
            </a:r>
          </a:p>
        </p:txBody>
      </p:sp>
      <p:sp>
        <p:nvSpPr>
          <p:cNvPr id="11" name="TextBox 10"/>
          <p:cNvSpPr txBox="1"/>
          <p:nvPr/>
        </p:nvSpPr>
        <p:spPr>
          <a:xfrm>
            <a:off x="2651760" y="2377440"/>
            <a:ext cx="3017520" cy="347472"/>
          </a:xfrm>
          <a:prstGeom prst="rect">
            <a:avLst/>
          </a:prstGeom>
          <a:noFill/>
        </p:spPr>
        <p:txBody>
          <a:bodyPr wrap="square">
            <a:spAutoFit/>
          </a:bodyPr>
          <a:lstStyle/>
          <a:p>
            <a:pPr algn="l"/>
            <a:r>
              <a:rPr sz="1200" b="0" i="0">
                <a:solidFill>
                  <a:srgbClr val="B0C4CE"/>
                </a:solidFill>
                <a:latin typeface="Calibri"/>
              </a:rPr>
              <a:t>1 or 2 — identifies the meter provider</a:t>
            </a:r>
          </a:p>
        </p:txBody>
      </p:sp>
      <p:sp>
        <p:nvSpPr>
          <p:cNvPr id="12" name="TextBox 11"/>
          <p:cNvSpPr txBox="1"/>
          <p:nvPr/>
        </p:nvSpPr>
        <p:spPr>
          <a:xfrm>
            <a:off x="502920" y="2761488"/>
            <a:ext cx="2103120" cy="347472"/>
          </a:xfrm>
          <a:prstGeom prst="rect">
            <a:avLst/>
          </a:prstGeom>
          <a:noFill/>
        </p:spPr>
        <p:txBody>
          <a:bodyPr wrap="square">
            <a:spAutoFit/>
          </a:bodyPr>
          <a:lstStyle/>
          <a:p>
            <a:pPr algn="l"/>
            <a:r>
              <a:rPr sz="1200" b="0" i="0">
                <a:solidFill>
                  <a:srgbClr val="00B4D8"/>
                </a:solidFill>
                <a:latin typeface="Consolas"/>
              </a:rPr>
              <a:t>tpep_pickup_datetime</a:t>
            </a:r>
          </a:p>
        </p:txBody>
      </p:sp>
      <p:sp>
        <p:nvSpPr>
          <p:cNvPr id="13" name="TextBox 12"/>
          <p:cNvSpPr txBox="1"/>
          <p:nvPr/>
        </p:nvSpPr>
        <p:spPr>
          <a:xfrm>
            <a:off x="2651760" y="2761488"/>
            <a:ext cx="3017520" cy="347472"/>
          </a:xfrm>
          <a:prstGeom prst="rect">
            <a:avLst/>
          </a:prstGeom>
          <a:noFill/>
        </p:spPr>
        <p:txBody>
          <a:bodyPr wrap="square">
            <a:spAutoFit/>
          </a:bodyPr>
          <a:lstStyle/>
          <a:p>
            <a:pPr algn="l"/>
            <a:r>
              <a:rPr sz="1200" b="0" i="0">
                <a:solidFill>
                  <a:srgbClr val="B0C4CE"/>
                </a:solidFill>
                <a:latin typeface="Calibri"/>
              </a:rPr>
              <a:t>raw string: '1/1/2020 0:28'  → needs casting</a:t>
            </a:r>
          </a:p>
        </p:txBody>
      </p:sp>
      <p:sp>
        <p:nvSpPr>
          <p:cNvPr id="14" name="TextBox 13"/>
          <p:cNvSpPr txBox="1"/>
          <p:nvPr/>
        </p:nvSpPr>
        <p:spPr>
          <a:xfrm>
            <a:off x="502920" y="3145536"/>
            <a:ext cx="2103120" cy="347472"/>
          </a:xfrm>
          <a:prstGeom prst="rect">
            <a:avLst/>
          </a:prstGeom>
          <a:noFill/>
        </p:spPr>
        <p:txBody>
          <a:bodyPr wrap="square">
            <a:spAutoFit/>
          </a:bodyPr>
          <a:lstStyle/>
          <a:p>
            <a:pPr algn="l"/>
            <a:r>
              <a:rPr sz="1200" b="0" i="0">
                <a:solidFill>
                  <a:srgbClr val="00B4D8"/>
                </a:solidFill>
                <a:latin typeface="Consolas"/>
              </a:rPr>
              <a:t>tpep_dropoff_datetime</a:t>
            </a:r>
          </a:p>
        </p:txBody>
      </p:sp>
      <p:sp>
        <p:nvSpPr>
          <p:cNvPr id="15" name="TextBox 14"/>
          <p:cNvSpPr txBox="1"/>
          <p:nvPr/>
        </p:nvSpPr>
        <p:spPr>
          <a:xfrm>
            <a:off x="2651760" y="3145536"/>
            <a:ext cx="3017520" cy="347472"/>
          </a:xfrm>
          <a:prstGeom prst="rect">
            <a:avLst/>
          </a:prstGeom>
          <a:noFill/>
        </p:spPr>
        <p:txBody>
          <a:bodyPr wrap="square">
            <a:spAutoFit/>
          </a:bodyPr>
          <a:lstStyle/>
          <a:p>
            <a:pPr algn="l"/>
            <a:r>
              <a:rPr sz="1200" b="0" i="0">
                <a:solidFill>
                  <a:srgbClr val="B0C4CE"/>
                </a:solidFill>
                <a:latin typeface="Calibri"/>
              </a:rPr>
              <a:t>raw string → compute trip duration</a:t>
            </a:r>
          </a:p>
        </p:txBody>
      </p:sp>
      <p:sp>
        <p:nvSpPr>
          <p:cNvPr id="16" name="TextBox 15"/>
          <p:cNvSpPr txBox="1"/>
          <p:nvPr/>
        </p:nvSpPr>
        <p:spPr>
          <a:xfrm>
            <a:off x="502920" y="3529584"/>
            <a:ext cx="2103120" cy="347472"/>
          </a:xfrm>
          <a:prstGeom prst="rect">
            <a:avLst/>
          </a:prstGeom>
          <a:noFill/>
        </p:spPr>
        <p:txBody>
          <a:bodyPr wrap="square">
            <a:spAutoFit/>
          </a:bodyPr>
          <a:lstStyle/>
          <a:p>
            <a:pPr algn="l"/>
            <a:r>
              <a:rPr sz="1200" b="0" i="0">
                <a:solidFill>
                  <a:srgbClr val="00B4D8"/>
                </a:solidFill>
                <a:latin typeface="Consolas"/>
              </a:rPr>
              <a:t>passenger_count</a:t>
            </a:r>
          </a:p>
        </p:txBody>
      </p:sp>
      <p:sp>
        <p:nvSpPr>
          <p:cNvPr id="17" name="TextBox 16"/>
          <p:cNvSpPr txBox="1"/>
          <p:nvPr/>
        </p:nvSpPr>
        <p:spPr>
          <a:xfrm>
            <a:off x="2651760" y="3529584"/>
            <a:ext cx="3017520" cy="347472"/>
          </a:xfrm>
          <a:prstGeom prst="rect">
            <a:avLst/>
          </a:prstGeom>
          <a:noFill/>
        </p:spPr>
        <p:txBody>
          <a:bodyPr wrap="square">
            <a:spAutoFit/>
          </a:bodyPr>
          <a:lstStyle/>
          <a:p>
            <a:pPr algn="l"/>
            <a:r>
              <a:rPr sz="1200" b="0" i="0">
                <a:solidFill>
                  <a:srgbClr val="B0C4CE"/>
                </a:solidFill>
                <a:latin typeface="Calibri"/>
              </a:rPr>
              <a:t>integer — max legal value is 6</a:t>
            </a:r>
          </a:p>
        </p:txBody>
      </p:sp>
      <p:sp>
        <p:nvSpPr>
          <p:cNvPr id="18" name="TextBox 17"/>
          <p:cNvSpPr txBox="1"/>
          <p:nvPr/>
        </p:nvSpPr>
        <p:spPr>
          <a:xfrm>
            <a:off x="502920" y="3913632"/>
            <a:ext cx="2103120" cy="347472"/>
          </a:xfrm>
          <a:prstGeom prst="rect">
            <a:avLst/>
          </a:prstGeom>
          <a:noFill/>
        </p:spPr>
        <p:txBody>
          <a:bodyPr wrap="square">
            <a:spAutoFit/>
          </a:bodyPr>
          <a:lstStyle/>
          <a:p>
            <a:pPr algn="l"/>
            <a:r>
              <a:rPr sz="1200" b="0" i="0">
                <a:solidFill>
                  <a:srgbClr val="00B4D8"/>
                </a:solidFill>
                <a:latin typeface="Consolas"/>
              </a:rPr>
              <a:t>trip_distance</a:t>
            </a:r>
          </a:p>
        </p:txBody>
      </p:sp>
      <p:sp>
        <p:nvSpPr>
          <p:cNvPr id="19" name="TextBox 18"/>
          <p:cNvSpPr txBox="1"/>
          <p:nvPr/>
        </p:nvSpPr>
        <p:spPr>
          <a:xfrm>
            <a:off x="2651760" y="3913632"/>
            <a:ext cx="3017520" cy="347472"/>
          </a:xfrm>
          <a:prstGeom prst="rect">
            <a:avLst/>
          </a:prstGeom>
          <a:noFill/>
        </p:spPr>
        <p:txBody>
          <a:bodyPr wrap="square">
            <a:spAutoFit/>
          </a:bodyPr>
          <a:lstStyle/>
          <a:p>
            <a:pPr algn="l"/>
            <a:r>
              <a:rPr sz="1200" b="0" i="0">
                <a:solidFill>
                  <a:srgbClr val="B0C4CE"/>
                </a:solidFill>
                <a:latin typeface="Calibri"/>
              </a:rPr>
              <a:t>float in miles — can be 0 or negative (bad data)</a:t>
            </a:r>
          </a:p>
        </p:txBody>
      </p:sp>
      <p:sp>
        <p:nvSpPr>
          <p:cNvPr id="20" name="TextBox 19"/>
          <p:cNvSpPr txBox="1"/>
          <p:nvPr/>
        </p:nvSpPr>
        <p:spPr>
          <a:xfrm>
            <a:off x="502920" y="4297680"/>
            <a:ext cx="2103120" cy="347472"/>
          </a:xfrm>
          <a:prstGeom prst="rect">
            <a:avLst/>
          </a:prstGeom>
          <a:noFill/>
        </p:spPr>
        <p:txBody>
          <a:bodyPr wrap="square">
            <a:spAutoFit/>
          </a:bodyPr>
          <a:lstStyle/>
          <a:p>
            <a:pPr algn="l"/>
            <a:r>
              <a:rPr sz="1200" b="0" i="0">
                <a:solidFill>
                  <a:srgbClr val="00B4D8"/>
                </a:solidFill>
                <a:latin typeface="Consolas"/>
              </a:rPr>
              <a:t>PULocationID</a:t>
            </a:r>
          </a:p>
        </p:txBody>
      </p:sp>
      <p:sp>
        <p:nvSpPr>
          <p:cNvPr id="21" name="TextBox 20"/>
          <p:cNvSpPr txBox="1"/>
          <p:nvPr/>
        </p:nvSpPr>
        <p:spPr>
          <a:xfrm>
            <a:off x="2651760" y="4297680"/>
            <a:ext cx="3017520" cy="347472"/>
          </a:xfrm>
          <a:prstGeom prst="rect">
            <a:avLst/>
          </a:prstGeom>
          <a:noFill/>
        </p:spPr>
        <p:txBody>
          <a:bodyPr wrap="square">
            <a:spAutoFit/>
          </a:bodyPr>
          <a:lstStyle/>
          <a:p>
            <a:pPr algn="l"/>
            <a:r>
              <a:rPr sz="1200" b="0" i="0">
                <a:solidFill>
                  <a:srgbClr val="B0C4CE"/>
                </a:solidFill>
                <a:latin typeface="Calibri"/>
              </a:rPr>
              <a:t>numeric zone ID — meaningless without lookup</a:t>
            </a:r>
          </a:p>
        </p:txBody>
      </p:sp>
      <p:sp>
        <p:nvSpPr>
          <p:cNvPr id="22" name="TextBox 21"/>
          <p:cNvSpPr txBox="1"/>
          <p:nvPr/>
        </p:nvSpPr>
        <p:spPr>
          <a:xfrm>
            <a:off x="502920" y="4681728"/>
            <a:ext cx="2103120" cy="347472"/>
          </a:xfrm>
          <a:prstGeom prst="rect">
            <a:avLst/>
          </a:prstGeom>
          <a:noFill/>
        </p:spPr>
        <p:txBody>
          <a:bodyPr wrap="square">
            <a:spAutoFit/>
          </a:bodyPr>
          <a:lstStyle/>
          <a:p>
            <a:pPr algn="l"/>
            <a:r>
              <a:rPr sz="1200" b="0" i="0">
                <a:solidFill>
                  <a:srgbClr val="00B4D8"/>
                </a:solidFill>
                <a:latin typeface="Consolas"/>
              </a:rPr>
              <a:t>DOLocationID</a:t>
            </a:r>
          </a:p>
        </p:txBody>
      </p:sp>
      <p:sp>
        <p:nvSpPr>
          <p:cNvPr id="23" name="TextBox 22"/>
          <p:cNvSpPr txBox="1"/>
          <p:nvPr/>
        </p:nvSpPr>
        <p:spPr>
          <a:xfrm>
            <a:off x="2651760" y="4681728"/>
            <a:ext cx="3017520" cy="347472"/>
          </a:xfrm>
          <a:prstGeom prst="rect">
            <a:avLst/>
          </a:prstGeom>
          <a:noFill/>
        </p:spPr>
        <p:txBody>
          <a:bodyPr wrap="square">
            <a:spAutoFit/>
          </a:bodyPr>
          <a:lstStyle/>
          <a:p>
            <a:pPr algn="l"/>
            <a:r>
              <a:rPr sz="1200" b="0" i="0">
                <a:solidFill>
                  <a:srgbClr val="B0C4CE"/>
                </a:solidFill>
                <a:latin typeface="Calibri"/>
              </a:rPr>
              <a:t>numeric zone ID — meaningless without lookup</a:t>
            </a:r>
          </a:p>
        </p:txBody>
      </p:sp>
      <p:sp>
        <p:nvSpPr>
          <p:cNvPr id="24" name="TextBox 23"/>
          <p:cNvSpPr txBox="1"/>
          <p:nvPr/>
        </p:nvSpPr>
        <p:spPr>
          <a:xfrm>
            <a:off x="502920" y="5065776"/>
            <a:ext cx="2103120" cy="347472"/>
          </a:xfrm>
          <a:prstGeom prst="rect">
            <a:avLst/>
          </a:prstGeom>
          <a:noFill/>
        </p:spPr>
        <p:txBody>
          <a:bodyPr wrap="square">
            <a:spAutoFit/>
          </a:bodyPr>
          <a:lstStyle/>
          <a:p>
            <a:pPr algn="l"/>
            <a:r>
              <a:rPr sz="1200" b="0" i="0">
                <a:solidFill>
                  <a:srgbClr val="00B4D8"/>
                </a:solidFill>
                <a:latin typeface="Consolas"/>
              </a:rPr>
              <a:t>fare_amount</a:t>
            </a:r>
          </a:p>
        </p:txBody>
      </p:sp>
      <p:sp>
        <p:nvSpPr>
          <p:cNvPr id="25" name="TextBox 24"/>
          <p:cNvSpPr txBox="1"/>
          <p:nvPr/>
        </p:nvSpPr>
        <p:spPr>
          <a:xfrm>
            <a:off x="2651760" y="5065776"/>
            <a:ext cx="3017520" cy="347472"/>
          </a:xfrm>
          <a:prstGeom prst="rect">
            <a:avLst/>
          </a:prstGeom>
          <a:noFill/>
        </p:spPr>
        <p:txBody>
          <a:bodyPr wrap="square">
            <a:spAutoFit/>
          </a:bodyPr>
          <a:lstStyle/>
          <a:p>
            <a:pPr algn="l"/>
            <a:r>
              <a:rPr sz="1200" b="0" i="0">
                <a:solidFill>
                  <a:srgbClr val="B0C4CE"/>
                </a:solidFill>
                <a:latin typeface="Calibri"/>
              </a:rPr>
              <a:t>float — can be negative or &gt; $500 (anomaly)</a:t>
            </a:r>
          </a:p>
        </p:txBody>
      </p:sp>
      <p:sp>
        <p:nvSpPr>
          <p:cNvPr id="26" name="TextBox 25"/>
          <p:cNvSpPr txBox="1"/>
          <p:nvPr/>
        </p:nvSpPr>
        <p:spPr>
          <a:xfrm>
            <a:off x="502920" y="5449824"/>
            <a:ext cx="2103120" cy="347472"/>
          </a:xfrm>
          <a:prstGeom prst="rect">
            <a:avLst/>
          </a:prstGeom>
          <a:noFill/>
        </p:spPr>
        <p:txBody>
          <a:bodyPr wrap="square">
            <a:spAutoFit/>
          </a:bodyPr>
          <a:lstStyle/>
          <a:p>
            <a:pPr algn="l"/>
            <a:r>
              <a:rPr sz="1200" b="0" i="0">
                <a:solidFill>
                  <a:srgbClr val="00B4D8"/>
                </a:solidFill>
                <a:latin typeface="Consolas"/>
              </a:rPr>
              <a:t>tip_amount</a:t>
            </a:r>
          </a:p>
        </p:txBody>
      </p:sp>
      <p:sp>
        <p:nvSpPr>
          <p:cNvPr id="27" name="TextBox 26"/>
          <p:cNvSpPr txBox="1"/>
          <p:nvPr/>
        </p:nvSpPr>
        <p:spPr>
          <a:xfrm>
            <a:off x="2651760" y="5449824"/>
            <a:ext cx="3017520" cy="347472"/>
          </a:xfrm>
          <a:prstGeom prst="rect">
            <a:avLst/>
          </a:prstGeom>
          <a:noFill/>
        </p:spPr>
        <p:txBody>
          <a:bodyPr wrap="square">
            <a:spAutoFit/>
          </a:bodyPr>
          <a:lstStyle/>
          <a:p>
            <a:pPr algn="l"/>
            <a:r>
              <a:rPr sz="1200" b="0" i="0">
                <a:solidFill>
                  <a:srgbClr val="B0C4CE"/>
                </a:solidFill>
                <a:latin typeface="Calibri"/>
              </a:rPr>
              <a:t>float — used to compute tip percentage</a:t>
            </a:r>
          </a:p>
        </p:txBody>
      </p:sp>
      <p:sp>
        <p:nvSpPr>
          <p:cNvPr id="28" name="TextBox 27"/>
          <p:cNvSpPr txBox="1"/>
          <p:nvPr/>
        </p:nvSpPr>
        <p:spPr>
          <a:xfrm>
            <a:off x="502920" y="5833872"/>
            <a:ext cx="2103120" cy="347472"/>
          </a:xfrm>
          <a:prstGeom prst="rect">
            <a:avLst/>
          </a:prstGeom>
          <a:noFill/>
        </p:spPr>
        <p:txBody>
          <a:bodyPr wrap="square">
            <a:spAutoFit/>
          </a:bodyPr>
          <a:lstStyle/>
          <a:p>
            <a:pPr algn="l"/>
            <a:r>
              <a:rPr sz="1200" b="0" i="0">
                <a:solidFill>
                  <a:srgbClr val="00B4D8"/>
                </a:solidFill>
                <a:latin typeface="Consolas"/>
              </a:rPr>
              <a:t>total_amount</a:t>
            </a:r>
          </a:p>
        </p:txBody>
      </p:sp>
      <p:sp>
        <p:nvSpPr>
          <p:cNvPr id="29" name="TextBox 28"/>
          <p:cNvSpPr txBox="1"/>
          <p:nvPr/>
        </p:nvSpPr>
        <p:spPr>
          <a:xfrm>
            <a:off x="2651760" y="5833872"/>
            <a:ext cx="3017520" cy="347472"/>
          </a:xfrm>
          <a:prstGeom prst="rect">
            <a:avLst/>
          </a:prstGeom>
          <a:noFill/>
        </p:spPr>
        <p:txBody>
          <a:bodyPr wrap="square">
            <a:spAutoFit/>
          </a:bodyPr>
          <a:lstStyle/>
          <a:p>
            <a:pPr algn="l"/>
            <a:r>
              <a:rPr sz="1200" b="0" i="0">
                <a:solidFill>
                  <a:srgbClr val="B0C4CE"/>
                </a:solidFill>
                <a:latin typeface="Calibri"/>
              </a:rPr>
              <a:t>float — primary revenue field</a:t>
            </a:r>
          </a:p>
        </p:txBody>
      </p:sp>
      <p:sp>
        <p:nvSpPr>
          <p:cNvPr id="30" name="TextBox 29"/>
          <p:cNvSpPr txBox="1"/>
          <p:nvPr/>
        </p:nvSpPr>
        <p:spPr>
          <a:xfrm>
            <a:off x="502920" y="6217920"/>
            <a:ext cx="2103120" cy="347472"/>
          </a:xfrm>
          <a:prstGeom prst="rect">
            <a:avLst/>
          </a:prstGeom>
          <a:noFill/>
        </p:spPr>
        <p:txBody>
          <a:bodyPr wrap="square">
            <a:spAutoFit/>
          </a:bodyPr>
          <a:lstStyle/>
          <a:p>
            <a:pPr algn="l"/>
            <a:r>
              <a:rPr sz="1200" b="0" i="0">
                <a:solidFill>
                  <a:srgbClr val="00B4D8"/>
                </a:solidFill>
                <a:latin typeface="Consolas"/>
              </a:rPr>
              <a:t>congestion_surcharge</a:t>
            </a:r>
          </a:p>
        </p:txBody>
      </p:sp>
      <p:sp>
        <p:nvSpPr>
          <p:cNvPr id="31" name="TextBox 30"/>
          <p:cNvSpPr txBox="1"/>
          <p:nvPr/>
        </p:nvSpPr>
        <p:spPr>
          <a:xfrm>
            <a:off x="2651760" y="6217920"/>
            <a:ext cx="3017520" cy="347472"/>
          </a:xfrm>
          <a:prstGeom prst="rect">
            <a:avLst/>
          </a:prstGeom>
          <a:noFill/>
        </p:spPr>
        <p:txBody>
          <a:bodyPr wrap="square">
            <a:spAutoFit/>
          </a:bodyPr>
          <a:lstStyle/>
          <a:p>
            <a:pPr algn="l"/>
            <a:r>
              <a:rPr sz="1200" b="0" i="0">
                <a:solidFill>
                  <a:srgbClr val="B0C4CE"/>
                </a:solidFill>
                <a:latin typeface="Calibri"/>
              </a:rPr>
              <a:t>NYC surcharge — added post-2019</a:t>
            </a:r>
          </a:p>
        </p:txBody>
      </p:sp>
      <p:sp>
        <p:nvSpPr>
          <p:cNvPr id="32" name="Rectangle 31"/>
          <p:cNvSpPr/>
          <p:nvPr/>
        </p:nvSpPr>
        <p:spPr>
          <a:xfrm>
            <a:off x="5989320" y="1417320"/>
            <a:ext cx="5852160" cy="242316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989320" y="1417320"/>
            <a:ext cx="91440" cy="2423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72200" y="1508760"/>
            <a:ext cx="5577840" cy="411480"/>
          </a:xfrm>
          <a:prstGeom prst="rect">
            <a:avLst/>
          </a:prstGeom>
          <a:noFill/>
        </p:spPr>
        <p:txBody>
          <a:bodyPr wrap="square">
            <a:spAutoFit/>
          </a:bodyPr>
          <a:lstStyle/>
          <a:p>
            <a:pPr algn="l"/>
            <a:r>
              <a:rPr sz="1700" b="1" i="0">
                <a:solidFill>
                  <a:srgbClr val="00B4D8"/>
                </a:solidFill>
                <a:latin typeface="Calibri"/>
              </a:rPr>
              <a:t>taxi_zone_lookup.csv</a:t>
            </a:r>
          </a:p>
        </p:txBody>
      </p:sp>
      <p:sp>
        <p:nvSpPr>
          <p:cNvPr id="35" name="TextBox 34"/>
          <p:cNvSpPr txBox="1"/>
          <p:nvPr/>
        </p:nvSpPr>
        <p:spPr>
          <a:xfrm>
            <a:off x="6172200" y="1938528"/>
            <a:ext cx="5577840" cy="347472"/>
          </a:xfrm>
          <a:prstGeom prst="rect">
            <a:avLst/>
          </a:prstGeom>
          <a:noFill/>
        </p:spPr>
        <p:txBody>
          <a:bodyPr wrap="square">
            <a:spAutoFit/>
          </a:bodyPr>
          <a:lstStyle/>
          <a:p>
            <a:pPr algn="l"/>
            <a:r>
              <a:rPr sz="1300" b="0" i="0">
                <a:solidFill>
                  <a:srgbClr val="B0C4CE"/>
                </a:solidFill>
                <a:latin typeface="Calibri"/>
              </a:rPr>
              <a:t>265 rows · 4 columns · All NYC taxi zones</a:t>
            </a:r>
          </a:p>
        </p:txBody>
      </p:sp>
      <p:sp>
        <p:nvSpPr>
          <p:cNvPr id="36" name="TextBox 35"/>
          <p:cNvSpPr txBox="1"/>
          <p:nvPr/>
        </p:nvSpPr>
        <p:spPr>
          <a:xfrm>
            <a:off x="6053328" y="2313432"/>
            <a:ext cx="1645920" cy="384048"/>
          </a:xfrm>
          <a:prstGeom prst="rect">
            <a:avLst/>
          </a:prstGeom>
          <a:noFill/>
        </p:spPr>
        <p:txBody>
          <a:bodyPr wrap="square">
            <a:spAutoFit/>
          </a:bodyPr>
          <a:lstStyle/>
          <a:p>
            <a:pPr algn="l"/>
            <a:r>
              <a:rPr sz="1200" b="1" i="0">
                <a:solidFill>
                  <a:srgbClr val="00B4D8"/>
                </a:solidFill>
                <a:latin typeface="Consolas"/>
              </a:rPr>
              <a:t>LocationID</a:t>
            </a:r>
          </a:p>
        </p:txBody>
      </p:sp>
      <p:sp>
        <p:nvSpPr>
          <p:cNvPr id="37" name="TextBox 36"/>
          <p:cNvSpPr txBox="1"/>
          <p:nvPr/>
        </p:nvSpPr>
        <p:spPr>
          <a:xfrm>
            <a:off x="7214616" y="2322576"/>
            <a:ext cx="1645920" cy="384048"/>
          </a:xfrm>
          <a:prstGeom prst="rect">
            <a:avLst/>
          </a:prstGeom>
          <a:noFill/>
        </p:spPr>
        <p:txBody>
          <a:bodyPr wrap="square">
            <a:spAutoFit/>
          </a:bodyPr>
          <a:lstStyle/>
          <a:p>
            <a:pPr algn="l"/>
            <a:r>
              <a:rPr sz="1200" b="1" i="0">
                <a:solidFill>
                  <a:srgbClr val="00B4D8"/>
                </a:solidFill>
                <a:latin typeface="Consolas"/>
              </a:rPr>
              <a:t>Borough</a:t>
            </a:r>
          </a:p>
        </p:txBody>
      </p:sp>
      <p:sp>
        <p:nvSpPr>
          <p:cNvPr id="38" name="TextBox 37"/>
          <p:cNvSpPr txBox="1"/>
          <p:nvPr/>
        </p:nvSpPr>
        <p:spPr>
          <a:xfrm>
            <a:off x="8449056" y="2322576"/>
            <a:ext cx="1645920" cy="384048"/>
          </a:xfrm>
          <a:prstGeom prst="rect">
            <a:avLst/>
          </a:prstGeom>
          <a:noFill/>
        </p:spPr>
        <p:txBody>
          <a:bodyPr wrap="square">
            <a:spAutoFit/>
          </a:bodyPr>
          <a:lstStyle/>
          <a:p>
            <a:pPr algn="l"/>
            <a:r>
              <a:rPr sz="1200" b="1" i="0">
                <a:solidFill>
                  <a:srgbClr val="00B4D8"/>
                </a:solidFill>
                <a:latin typeface="Consolas"/>
              </a:rPr>
              <a:t>Zone</a:t>
            </a:r>
          </a:p>
        </p:txBody>
      </p:sp>
      <p:sp>
        <p:nvSpPr>
          <p:cNvPr id="39" name="TextBox 38"/>
          <p:cNvSpPr txBox="1"/>
          <p:nvPr/>
        </p:nvSpPr>
        <p:spPr>
          <a:xfrm>
            <a:off x="10277856" y="2322576"/>
            <a:ext cx="1645920" cy="384048"/>
          </a:xfrm>
          <a:prstGeom prst="rect">
            <a:avLst/>
          </a:prstGeom>
          <a:noFill/>
        </p:spPr>
        <p:txBody>
          <a:bodyPr wrap="square">
            <a:spAutoFit/>
          </a:bodyPr>
          <a:lstStyle/>
          <a:p>
            <a:pPr algn="l"/>
            <a:r>
              <a:rPr sz="1200" b="1" i="0" dirty="0" err="1">
                <a:solidFill>
                  <a:srgbClr val="00B4D8"/>
                </a:solidFill>
                <a:latin typeface="Consolas"/>
              </a:rPr>
              <a:t>service_zone</a:t>
            </a:r>
            <a:endParaRPr sz="1200" b="1" i="0" dirty="0">
              <a:solidFill>
                <a:srgbClr val="00B4D8"/>
              </a:solidFill>
              <a:latin typeface="Consolas"/>
            </a:endParaRPr>
          </a:p>
        </p:txBody>
      </p:sp>
      <p:sp>
        <p:nvSpPr>
          <p:cNvPr id="40" name="TextBox 39"/>
          <p:cNvSpPr txBox="1"/>
          <p:nvPr/>
        </p:nvSpPr>
        <p:spPr>
          <a:xfrm>
            <a:off x="6126480" y="2615184"/>
            <a:ext cx="1645920" cy="276999"/>
          </a:xfrm>
          <a:prstGeom prst="rect">
            <a:avLst/>
          </a:prstGeom>
          <a:noFill/>
        </p:spPr>
        <p:txBody>
          <a:bodyPr wrap="square">
            <a:spAutoFit/>
          </a:bodyPr>
          <a:lstStyle/>
          <a:p>
            <a:pPr algn="l"/>
            <a:r>
              <a:rPr sz="1200" b="0" i="0">
                <a:solidFill>
                  <a:srgbClr val="B0C4CE"/>
                </a:solidFill>
                <a:latin typeface="Consolas"/>
              </a:rPr>
              <a:t>1</a:t>
            </a:r>
          </a:p>
        </p:txBody>
      </p:sp>
      <p:sp>
        <p:nvSpPr>
          <p:cNvPr id="41" name="TextBox 40"/>
          <p:cNvSpPr txBox="1"/>
          <p:nvPr/>
        </p:nvSpPr>
        <p:spPr>
          <a:xfrm>
            <a:off x="7223760" y="2615184"/>
            <a:ext cx="1645920" cy="276999"/>
          </a:xfrm>
          <a:prstGeom prst="rect">
            <a:avLst/>
          </a:prstGeom>
          <a:noFill/>
        </p:spPr>
        <p:txBody>
          <a:bodyPr wrap="square">
            <a:spAutoFit/>
          </a:bodyPr>
          <a:lstStyle/>
          <a:p>
            <a:pPr algn="l"/>
            <a:r>
              <a:rPr sz="1200" b="0" i="0">
                <a:solidFill>
                  <a:srgbClr val="FFFFFF"/>
                </a:solidFill>
                <a:latin typeface="Consolas"/>
              </a:rPr>
              <a:t>EWR</a:t>
            </a:r>
          </a:p>
        </p:txBody>
      </p:sp>
      <p:sp>
        <p:nvSpPr>
          <p:cNvPr id="42" name="TextBox 41"/>
          <p:cNvSpPr txBox="1"/>
          <p:nvPr/>
        </p:nvSpPr>
        <p:spPr>
          <a:xfrm>
            <a:off x="8458200" y="2615184"/>
            <a:ext cx="1645920" cy="276999"/>
          </a:xfrm>
          <a:prstGeom prst="rect">
            <a:avLst/>
          </a:prstGeom>
          <a:noFill/>
        </p:spPr>
        <p:txBody>
          <a:bodyPr wrap="square">
            <a:spAutoFit/>
          </a:bodyPr>
          <a:lstStyle/>
          <a:p>
            <a:pPr algn="l"/>
            <a:r>
              <a:rPr sz="1200" b="0" i="0">
                <a:solidFill>
                  <a:srgbClr val="B0C4CE"/>
                </a:solidFill>
                <a:latin typeface="Consolas"/>
              </a:rPr>
              <a:t>Newark Airport</a:t>
            </a:r>
          </a:p>
        </p:txBody>
      </p:sp>
      <p:sp>
        <p:nvSpPr>
          <p:cNvPr id="43" name="TextBox 42"/>
          <p:cNvSpPr txBox="1"/>
          <p:nvPr/>
        </p:nvSpPr>
        <p:spPr>
          <a:xfrm>
            <a:off x="10287000" y="2615184"/>
            <a:ext cx="1645920" cy="276999"/>
          </a:xfrm>
          <a:prstGeom prst="rect">
            <a:avLst/>
          </a:prstGeom>
          <a:noFill/>
        </p:spPr>
        <p:txBody>
          <a:bodyPr wrap="square">
            <a:spAutoFit/>
          </a:bodyPr>
          <a:lstStyle/>
          <a:p>
            <a:pPr algn="l"/>
            <a:r>
              <a:rPr sz="1200" b="0" i="0">
                <a:solidFill>
                  <a:srgbClr val="B0C4CE"/>
                </a:solidFill>
                <a:latin typeface="Consolas"/>
              </a:rPr>
              <a:t>EWR</a:t>
            </a:r>
          </a:p>
        </p:txBody>
      </p:sp>
      <p:sp>
        <p:nvSpPr>
          <p:cNvPr id="44" name="TextBox 43"/>
          <p:cNvSpPr txBox="1"/>
          <p:nvPr/>
        </p:nvSpPr>
        <p:spPr>
          <a:xfrm>
            <a:off x="6126480" y="3054096"/>
            <a:ext cx="1645920" cy="276999"/>
          </a:xfrm>
          <a:prstGeom prst="rect">
            <a:avLst/>
          </a:prstGeom>
          <a:noFill/>
        </p:spPr>
        <p:txBody>
          <a:bodyPr wrap="square">
            <a:spAutoFit/>
          </a:bodyPr>
          <a:lstStyle/>
          <a:p>
            <a:pPr algn="l"/>
            <a:r>
              <a:rPr sz="1200" b="0" i="0">
                <a:solidFill>
                  <a:srgbClr val="B0C4CE"/>
                </a:solidFill>
                <a:latin typeface="Consolas"/>
              </a:rPr>
              <a:t>4</a:t>
            </a:r>
          </a:p>
        </p:txBody>
      </p:sp>
      <p:sp>
        <p:nvSpPr>
          <p:cNvPr id="45" name="TextBox 44"/>
          <p:cNvSpPr txBox="1"/>
          <p:nvPr/>
        </p:nvSpPr>
        <p:spPr>
          <a:xfrm>
            <a:off x="7223760" y="3054096"/>
            <a:ext cx="1645920" cy="276999"/>
          </a:xfrm>
          <a:prstGeom prst="rect">
            <a:avLst/>
          </a:prstGeom>
          <a:noFill/>
        </p:spPr>
        <p:txBody>
          <a:bodyPr wrap="square">
            <a:spAutoFit/>
          </a:bodyPr>
          <a:lstStyle/>
          <a:p>
            <a:pPr algn="l"/>
            <a:r>
              <a:rPr sz="1200" b="0" i="0">
                <a:solidFill>
                  <a:srgbClr val="FFFFFF"/>
                </a:solidFill>
                <a:latin typeface="Consolas"/>
              </a:rPr>
              <a:t>Manhattan</a:t>
            </a:r>
          </a:p>
        </p:txBody>
      </p:sp>
      <p:sp>
        <p:nvSpPr>
          <p:cNvPr id="46" name="TextBox 45"/>
          <p:cNvSpPr txBox="1"/>
          <p:nvPr/>
        </p:nvSpPr>
        <p:spPr>
          <a:xfrm>
            <a:off x="8458200" y="3054096"/>
            <a:ext cx="1645920" cy="276999"/>
          </a:xfrm>
          <a:prstGeom prst="rect">
            <a:avLst/>
          </a:prstGeom>
          <a:noFill/>
        </p:spPr>
        <p:txBody>
          <a:bodyPr wrap="square">
            <a:spAutoFit/>
          </a:bodyPr>
          <a:lstStyle/>
          <a:p>
            <a:pPr algn="l"/>
            <a:r>
              <a:rPr sz="1200" b="0" i="0">
                <a:solidFill>
                  <a:srgbClr val="B0C4CE"/>
                </a:solidFill>
                <a:latin typeface="Consolas"/>
              </a:rPr>
              <a:t>Alphabet City</a:t>
            </a:r>
          </a:p>
        </p:txBody>
      </p:sp>
      <p:sp>
        <p:nvSpPr>
          <p:cNvPr id="47" name="TextBox 46"/>
          <p:cNvSpPr txBox="1"/>
          <p:nvPr/>
        </p:nvSpPr>
        <p:spPr>
          <a:xfrm>
            <a:off x="10287000" y="3054096"/>
            <a:ext cx="1645920" cy="276999"/>
          </a:xfrm>
          <a:prstGeom prst="rect">
            <a:avLst/>
          </a:prstGeom>
          <a:noFill/>
        </p:spPr>
        <p:txBody>
          <a:bodyPr wrap="square">
            <a:spAutoFit/>
          </a:bodyPr>
          <a:lstStyle/>
          <a:p>
            <a:pPr algn="l"/>
            <a:r>
              <a:rPr sz="1200" b="0" i="0">
                <a:solidFill>
                  <a:srgbClr val="B0C4CE"/>
                </a:solidFill>
                <a:latin typeface="Consolas"/>
              </a:rPr>
              <a:t>Yellow Zone</a:t>
            </a:r>
          </a:p>
        </p:txBody>
      </p:sp>
      <p:sp>
        <p:nvSpPr>
          <p:cNvPr id="48" name="TextBox 47"/>
          <p:cNvSpPr txBox="1"/>
          <p:nvPr/>
        </p:nvSpPr>
        <p:spPr>
          <a:xfrm>
            <a:off x="6126480" y="3493008"/>
            <a:ext cx="1645920" cy="276999"/>
          </a:xfrm>
          <a:prstGeom prst="rect">
            <a:avLst/>
          </a:prstGeom>
          <a:noFill/>
        </p:spPr>
        <p:txBody>
          <a:bodyPr wrap="square">
            <a:spAutoFit/>
          </a:bodyPr>
          <a:lstStyle/>
          <a:p>
            <a:pPr algn="l"/>
            <a:r>
              <a:rPr sz="1200" b="0" i="0">
                <a:solidFill>
                  <a:srgbClr val="B0C4CE"/>
                </a:solidFill>
                <a:latin typeface="Consolas"/>
              </a:rPr>
              <a:t>238</a:t>
            </a:r>
          </a:p>
        </p:txBody>
      </p:sp>
      <p:sp>
        <p:nvSpPr>
          <p:cNvPr id="49" name="TextBox 48"/>
          <p:cNvSpPr txBox="1"/>
          <p:nvPr/>
        </p:nvSpPr>
        <p:spPr>
          <a:xfrm>
            <a:off x="7223760" y="3493008"/>
            <a:ext cx="1645920" cy="276999"/>
          </a:xfrm>
          <a:prstGeom prst="rect">
            <a:avLst/>
          </a:prstGeom>
          <a:noFill/>
        </p:spPr>
        <p:txBody>
          <a:bodyPr wrap="square">
            <a:spAutoFit/>
          </a:bodyPr>
          <a:lstStyle/>
          <a:p>
            <a:pPr algn="l"/>
            <a:r>
              <a:rPr sz="1200" b="0" i="0">
                <a:solidFill>
                  <a:srgbClr val="FFFFFF"/>
                </a:solidFill>
                <a:latin typeface="Consolas"/>
              </a:rPr>
              <a:t>Manhattan</a:t>
            </a:r>
          </a:p>
        </p:txBody>
      </p:sp>
      <p:sp>
        <p:nvSpPr>
          <p:cNvPr id="50" name="TextBox 49"/>
          <p:cNvSpPr txBox="1"/>
          <p:nvPr/>
        </p:nvSpPr>
        <p:spPr>
          <a:xfrm>
            <a:off x="8458200" y="3493008"/>
            <a:ext cx="1645920" cy="276999"/>
          </a:xfrm>
          <a:prstGeom prst="rect">
            <a:avLst/>
          </a:prstGeom>
          <a:noFill/>
        </p:spPr>
        <p:txBody>
          <a:bodyPr wrap="square">
            <a:spAutoFit/>
          </a:bodyPr>
          <a:lstStyle/>
          <a:p>
            <a:pPr algn="l"/>
            <a:r>
              <a:rPr sz="1200" b="0" i="0">
                <a:solidFill>
                  <a:srgbClr val="B0C4CE"/>
                </a:solidFill>
                <a:latin typeface="Consolas"/>
              </a:rPr>
              <a:t>Upper West Side N</a:t>
            </a:r>
          </a:p>
        </p:txBody>
      </p:sp>
      <p:sp>
        <p:nvSpPr>
          <p:cNvPr id="51" name="TextBox 50"/>
          <p:cNvSpPr txBox="1"/>
          <p:nvPr/>
        </p:nvSpPr>
        <p:spPr>
          <a:xfrm>
            <a:off x="10287000" y="3493008"/>
            <a:ext cx="1645920" cy="276999"/>
          </a:xfrm>
          <a:prstGeom prst="rect">
            <a:avLst/>
          </a:prstGeom>
          <a:noFill/>
        </p:spPr>
        <p:txBody>
          <a:bodyPr wrap="square">
            <a:spAutoFit/>
          </a:bodyPr>
          <a:lstStyle/>
          <a:p>
            <a:pPr algn="l"/>
            <a:r>
              <a:rPr sz="1200" b="0" i="0">
                <a:solidFill>
                  <a:srgbClr val="B0C4CE"/>
                </a:solidFill>
                <a:latin typeface="Consolas"/>
              </a:rPr>
              <a:t>Yellow Zone</a:t>
            </a:r>
          </a:p>
        </p:txBody>
      </p:sp>
      <p:sp>
        <p:nvSpPr>
          <p:cNvPr id="52" name="TextBox 51"/>
          <p:cNvSpPr txBox="1"/>
          <p:nvPr/>
        </p:nvSpPr>
        <p:spPr>
          <a:xfrm>
            <a:off x="6172200" y="4151376"/>
            <a:ext cx="1645920" cy="384048"/>
          </a:xfrm>
          <a:prstGeom prst="rect">
            <a:avLst/>
          </a:prstGeom>
          <a:noFill/>
        </p:spPr>
        <p:txBody>
          <a:bodyPr wrap="square">
            <a:spAutoFit/>
          </a:bodyPr>
          <a:lstStyle/>
          <a:p>
            <a:pPr algn="l"/>
            <a:r>
              <a:rPr sz="1200" b="0" i="0">
                <a:solidFill>
                  <a:srgbClr val="B0C4CE"/>
                </a:solidFill>
                <a:latin typeface="Consolas"/>
              </a:rPr>
              <a:t>151</a:t>
            </a:r>
          </a:p>
        </p:txBody>
      </p:sp>
      <p:sp>
        <p:nvSpPr>
          <p:cNvPr id="53" name="TextBox 52"/>
          <p:cNvSpPr txBox="1"/>
          <p:nvPr/>
        </p:nvSpPr>
        <p:spPr>
          <a:xfrm>
            <a:off x="7269480" y="4151376"/>
            <a:ext cx="1645920" cy="384048"/>
          </a:xfrm>
          <a:prstGeom prst="rect">
            <a:avLst/>
          </a:prstGeom>
          <a:noFill/>
        </p:spPr>
        <p:txBody>
          <a:bodyPr wrap="square">
            <a:spAutoFit/>
          </a:bodyPr>
          <a:lstStyle/>
          <a:p>
            <a:pPr algn="l"/>
            <a:r>
              <a:rPr sz="1200" b="0" i="0">
                <a:solidFill>
                  <a:srgbClr val="FFFFFF"/>
                </a:solidFill>
                <a:latin typeface="Consolas"/>
              </a:rPr>
              <a:t>Manhattan</a:t>
            </a:r>
          </a:p>
        </p:txBody>
      </p:sp>
      <p:sp>
        <p:nvSpPr>
          <p:cNvPr id="54" name="TextBox 53"/>
          <p:cNvSpPr txBox="1"/>
          <p:nvPr/>
        </p:nvSpPr>
        <p:spPr>
          <a:xfrm>
            <a:off x="8503920" y="4151376"/>
            <a:ext cx="1645920" cy="384048"/>
          </a:xfrm>
          <a:prstGeom prst="rect">
            <a:avLst/>
          </a:prstGeom>
          <a:noFill/>
        </p:spPr>
        <p:txBody>
          <a:bodyPr wrap="square">
            <a:spAutoFit/>
          </a:bodyPr>
          <a:lstStyle/>
          <a:p>
            <a:pPr algn="l"/>
            <a:r>
              <a:rPr sz="1200" b="0" i="0">
                <a:solidFill>
                  <a:srgbClr val="B0C4CE"/>
                </a:solidFill>
                <a:latin typeface="Consolas"/>
              </a:rPr>
              <a:t>Manhattan Valley</a:t>
            </a:r>
          </a:p>
        </p:txBody>
      </p:sp>
      <p:sp>
        <p:nvSpPr>
          <p:cNvPr id="55" name="TextBox 54"/>
          <p:cNvSpPr txBox="1"/>
          <p:nvPr/>
        </p:nvSpPr>
        <p:spPr>
          <a:xfrm>
            <a:off x="10332720" y="4151376"/>
            <a:ext cx="1645920" cy="384048"/>
          </a:xfrm>
          <a:prstGeom prst="rect">
            <a:avLst/>
          </a:prstGeom>
          <a:noFill/>
        </p:spPr>
        <p:txBody>
          <a:bodyPr wrap="square">
            <a:spAutoFit/>
          </a:bodyPr>
          <a:lstStyle/>
          <a:p>
            <a:pPr algn="l"/>
            <a:r>
              <a:rPr sz="1200" b="0" i="0">
                <a:solidFill>
                  <a:srgbClr val="B0C4CE"/>
                </a:solidFill>
                <a:latin typeface="Consolas"/>
              </a:rPr>
              <a:t>Yellow Zone</a:t>
            </a:r>
          </a:p>
        </p:txBody>
      </p:sp>
      <p:sp>
        <p:nvSpPr>
          <p:cNvPr id="56" name="TextBox 55"/>
          <p:cNvSpPr txBox="1"/>
          <p:nvPr/>
        </p:nvSpPr>
        <p:spPr>
          <a:xfrm>
            <a:off x="6172200" y="4590288"/>
            <a:ext cx="1645920" cy="384048"/>
          </a:xfrm>
          <a:prstGeom prst="rect">
            <a:avLst/>
          </a:prstGeom>
          <a:noFill/>
        </p:spPr>
        <p:txBody>
          <a:bodyPr wrap="square">
            <a:spAutoFit/>
          </a:bodyPr>
          <a:lstStyle/>
          <a:p>
            <a:pPr algn="l"/>
            <a:r>
              <a:rPr sz="1200" b="0" i="0">
                <a:solidFill>
                  <a:srgbClr val="B0C4CE"/>
                </a:solidFill>
                <a:latin typeface="Consolas"/>
              </a:rPr>
              <a:t>265</a:t>
            </a:r>
          </a:p>
        </p:txBody>
      </p:sp>
      <p:sp>
        <p:nvSpPr>
          <p:cNvPr id="57" name="TextBox 56"/>
          <p:cNvSpPr txBox="1"/>
          <p:nvPr/>
        </p:nvSpPr>
        <p:spPr>
          <a:xfrm>
            <a:off x="7269480" y="4590288"/>
            <a:ext cx="1645920" cy="384048"/>
          </a:xfrm>
          <a:prstGeom prst="rect">
            <a:avLst/>
          </a:prstGeom>
          <a:noFill/>
        </p:spPr>
        <p:txBody>
          <a:bodyPr wrap="square">
            <a:spAutoFit/>
          </a:bodyPr>
          <a:lstStyle/>
          <a:p>
            <a:pPr algn="l"/>
            <a:r>
              <a:rPr sz="1200" b="0" i="0">
                <a:solidFill>
                  <a:srgbClr val="FFFFFF"/>
                </a:solidFill>
                <a:latin typeface="Consolas"/>
              </a:rPr>
              <a:t>Queens</a:t>
            </a:r>
          </a:p>
        </p:txBody>
      </p:sp>
      <p:sp>
        <p:nvSpPr>
          <p:cNvPr id="58" name="TextBox 57"/>
          <p:cNvSpPr txBox="1"/>
          <p:nvPr/>
        </p:nvSpPr>
        <p:spPr>
          <a:xfrm>
            <a:off x="8503920" y="4590288"/>
            <a:ext cx="1645920" cy="384048"/>
          </a:xfrm>
          <a:prstGeom prst="rect">
            <a:avLst/>
          </a:prstGeom>
          <a:noFill/>
        </p:spPr>
        <p:txBody>
          <a:bodyPr wrap="square">
            <a:spAutoFit/>
          </a:bodyPr>
          <a:lstStyle/>
          <a:p>
            <a:pPr algn="l"/>
            <a:r>
              <a:rPr sz="1200" b="0" i="0">
                <a:solidFill>
                  <a:srgbClr val="B0C4CE"/>
                </a:solidFill>
                <a:latin typeface="Consolas"/>
              </a:rPr>
              <a:t>Jamaica Bay</a:t>
            </a:r>
          </a:p>
        </p:txBody>
      </p:sp>
      <p:sp>
        <p:nvSpPr>
          <p:cNvPr id="59" name="TextBox 58"/>
          <p:cNvSpPr txBox="1"/>
          <p:nvPr/>
        </p:nvSpPr>
        <p:spPr>
          <a:xfrm>
            <a:off x="10332720" y="4590288"/>
            <a:ext cx="1645920" cy="384048"/>
          </a:xfrm>
          <a:prstGeom prst="rect">
            <a:avLst/>
          </a:prstGeom>
          <a:noFill/>
        </p:spPr>
        <p:txBody>
          <a:bodyPr wrap="square">
            <a:spAutoFit/>
          </a:bodyPr>
          <a:lstStyle/>
          <a:p>
            <a:pPr algn="l"/>
            <a:r>
              <a:rPr sz="1200" b="0" i="0">
                <a:solidFill>
                  <a:srgbClr val="B0C4CE"/>
                </a:solidFill>
                <a:latin typeface="Consolas"/>
              </a:rPr>
              <a:t>Boro Zone</a:t>
            </a:r>
          </a:p>
        </p:txBody>
      </p:sp>
      <p:sp>
        <p:nvSpPr>
          <p:cNvPr id="60" name="Rectangle 59"/>
          <p:cNvSpPr/>
          <p:nvPr/>
        </p:nvSpPr>
        <p:spPr>
          <a:xfrm>
            <a:off x="5989320" y="4023360"/>
            <a:ext cx="5852160" cy="256032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5989320" y="4023360"/>
            <a:ext cx="91440" cy="25603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172200" y="4114800"/>
            <a:ext cx="5577840" cy="365760"/>
          </a:xfrm>
          <a:prstGeom prst="rect">
            <a:avLst/>
          </a:prstGeom>
          <a:noFill/>
        </p:spPr>
        <p:txBody>
          <a:bodyPr wrap="square">
            <a:spAutoFit/>
          </a:bodyPr>
          <a:lstStyle/>
          <a:p>
            <a:pPr algn="l"/>
            <a:r>
              <a:rPr sz="1500" b="1" i="0">
                <a:solidFill>
                  <a:srgbClr val="00B4D8"/>
                </a:solidFill>
                <a:latin typeface="Calibri"/>
              </a:rPr>
              <a:t>Why This Join Matters</a:t>
            </a:r>
          </a:p>
        </p:txBody>
      </p:sp>
      <p:sp>
        <p:nvSpPr>
          <p:cNvPr id="63" name="TextBox 62"/>
          <p:cNvSpPr txBox="1"/>
          <p:nvPr/>
        </p:nvSpPr>
        <p:spPr>
          <a:xfrm>
            <a:off x="6172200" y="4526280"/>
            <a:ext cx="5577840" cy="1920240"/>
          </a:xfrm>
          <a:prstGeom prst="rect">
            <a:avLst/>
          </a:prstGeom>
          <a:noFill/>
        </p:spPr>
        <p:txBody>
          <a:bodyPr wrap="square">
            <a:spAutoFit/>
          </a:bodyPr>
          <a:lstStyle/>
          <a:p>
            <a:pPr algn="l"/>
            <a:r>
              <a:rPr sz="1300" b="0" i="0">
                <a:solidFill>
                  <a:srgbClr val="B0C4CE"/>
                </a:solidFill>
                <a:latin typeface="Calibri"/>
              </a:rPr>
              <a:t>trip_sample.csv contains only PULocationID=238 and DOLocationID=151.
Without the zone lookup, we cannot aggregate by borough.
Spark joins both tables during streaming so every output record carries pu_borough, pu_zone, do_borough, do_zone — enabling all three MapReduce jobs to group by borough name.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201168"/>
            <a:ext cx="7315200" cy="320040"/>
          </a:xfrm>
          <a:prstGeom prst="rect">
            <a:avLst/>
          </a:prstGeom>
          <a:noFill/>
        </p:spPr>
        <p:txBody>
          <a:bodyPr wrap="square">
            <a:spAutoFit/>
          </a:bodyPr>
          <a:lstStyle/>
          <a:p>
            <a:pPr algn="l"/>
            <a:r>
              <a:rPr sz="1100" b="1" i="0">
                <a:solidFill>
                  <a:srgbClr val="00B4D8"/>
                </a:solidFill>
                <a:latin typeface="Calibri"/>
              </a:rPr>
              <a:t>ARCHITECTURE</a:t>
            </a:r>
          </a:p>
        </p:txBody>
      </p:sp>
      <p:sp>
        <p:nvSpPr>
          <p:cNvPr id="5" name="TextBox 4"/>
          <p:cNvSpPr txBox="1"/>
          <p:nvPr/>
        </p:nvSpPr>
        <p:spPr>
          <a:xfrm>
            <a:off x="320040" y="530352"/>
            <a:ext cx="11521440" cy="685800"/>
          </a:xfrm>
          <a:prstGeom prst="rect">
            <a:avLst/>
          </a:prstGeom>
          <a:noFill/>
        </p:spPr>
        <p:txBody>
          <a:bodyPr wrap="square">
            <a:spAutoFit/>
          </a:bodyPr>
          <a:lstStyle/>
          <a:p>
            <a:pPr algn="l"/>
            <a:r>
              <a:rPr sz="3400" b="1" i="0">
                <a:solidFill>
                  <a:srgbClr val="FFFFFF"/>
                </a:solidFill>
                <a:latin typeface="Calibri"/>
              </a:rPr>
              <a:t>End-to-End Pipeline</a:t>
            </a:r>
          </a:p>
        </p:txBody>
      </p:sp>
      <p:sp>
        <p:nvSpPr>
          <p:cNvPr id="6" name="Rectangle 5"/>
          <p:cNvSpPr/>
          <p:nvPr/>
        </p:nvSpPr>
        <p:spPr>
          <a:xfrm>
            <a:off x="256032" y="1554480"/>
            <a:ext cx="1719072" cy="1920240"/>
          </a:xfrm>
          <a:prstGeom prst="rect">
            <a:avLst/>
          </a:prstGeom>
          <a:solidFill>
            <a:srgbClr val="02779A"/>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9184" y="1645920"/>
            <a:ext cx="1572768" cy="594360"/>
          </a:xfrm>
          <a:prstGeom prst="rect">
            <a:avLst/>
          </a:prstGeom>
          <a:noFill/>
        </p:spPr>
        <p:txBody>
          <a:bodyPr wrap="square">
            <a:spAutoFit/>
          </a:bodyPr>
          <a:lstStyle/>
          <a:p>
            <a:pPr algn="ctr"/>
            <a:r>
              <a:rPr sz="1400" b="1" i="0">
                <a:solidFill>
                  <a:srgbClr val="00B4D8"/>
                </a:solidFill>
                <a:latin typeface="Calibri"/>
              </a:rPr>
              <a:t>CSV File</a:t>
            </a:r>
          </a:p>
        </p:txBody>
      </p:sp>
      <p:sp>
        <p:nvSpPr>
          <p:cNvPr id="8" name="TextBox 7"/>
          <p:cNvSpPr txBox="1"/>
          <p:nvPr/>
        </p:nvSpPr>
        <p:spPr>
          <a:xfrm>
            <a:off x="329184" y="2267712"/>
            <a:ext cx="1572768" cy="1097280"/>
          </a:xfrm>
          <a:prstGeom prst="rect">
            <a:avLst/>
          </a:prstGeom>
          <a:noFill/>
        </p:spPr>
        <p:txBody>
          <a:bodyPr wrap="square">
            <a:spAutoFit/>
          </a:bodyPr>
          <a:lstStyle/>
          <a:p>
            <a:pPr algn="ctr"/>
            <a:r>
              <a:rPr sz="1100" b="0" i="0">
                <a:solidFill>
                  <a:srgbClr val="B0C4CE"/>
                </a:solidFill>
                <a:latin typeface="Calibri"/>
              </a:rPr>
              <a:t>taxi_sample.csv
50,000 rows
18 columns</a:t>
            </a:r>
          </a:p>
        </p:txBody>
      </p:sp>
      <p:sp>
        <p:nvSpPr>
          <p:cNvPr id="9" name="TextBox 8"/>
          <p:cNvSpPr txBox="1"/>
          <p:nvPr/>
        </p:nvSpPr>
        <p:spPr>
          <a:xfrm>
            <a:off x="1993392" y="2148840"/>
            <a:ext cx="274320" cy="457200"/>
          </a:xfrm>
          <a:prstGeom prst="rect">
            <a:avLst/>
          </a:prstGeom>
          <a:noFill/>
        </p:spPr>
        <p:txBody>
          <a:bodyPr wrap="square">
            <a:spAutoFit/>
          </a:bodyPr>
          <a:lstStyle/>
          <a:p>
            <a:pPr algn="ctr"/>
            <a:r>
              <a:rPr sz="1800" b="0" i="0">
                <a:solidFill>
                  <a:srgbClr val="00B4D8"/>
                </a:solidFill>
                <a:latin typeface="Calibri"/>
              </a:rPr>
              <a:t>▶</a:t>
            </a:r>
          </a:p>
        </p:txBody>
      </p:sp>
      <p:sp>
        <p:nvSpPr>
          <p:cNvPr id="10" name="TextBox 9"/>
          <p:cNvSpPr txBox="1"/>
          <p:nvPr/>
        </p:nvSpPr>
        <p:spPr>
          <a:xfrm>
            <a:off x="256032" y="3566160"/>
            <a:ext cx="1719072" cy="347472"/>
          </a:xfrm>
          <a:prstGeom prst="rect">
            <a:avLst/>
          </a:prstGeom>
          <a:noFill/>
        </p:spPr>
        <p:txBody>
          <a:bodyPr wrap="square">
            <a:spAutoFit/>
          </a:bodyPr>
          <a:lstStyle/>
          <a:p>
            <a:pPr algn="ctr"/>
            <a:r>
              <a:rPr sz="1100" b="0" i="0">
                <a:solidFill>
                  <a:srgbClr val="B0C4CE"/>
                </a:solidFill>
                <a:latin typeface="Calibri"/>
              </a:rPr>
              <a:t>Source</a:t>
            </a:r>
          </a:p>
        </p:txBody>
      </p:sp>
      <p:sp>
        <p:nvSpPr>
          <p:cNvPr id="11" name="Rectangle 10"/>
          <p:cNvSpPr/>
          <p:nvPr/>
        </p:nvSpPr>
        <p:spPr>
          <a:xfrm>
            <a:off x="2249424" y="1554480"/>
            <a:ext cx="1719072" cy="1920240"/>
          </a:xfrm>
          <a:prstGeom prst="rect">
            <a:avLst/>
          </a:prstGeom>
          <a:solidFill>
            <a:srgbClr val="162A3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22576" y="1645920"/>
            <a:ext cx="1572768" cy="594360"/>
          </a:xfrm>
          <a:prstGeom prst="rect">
            <a:avLst/>
          </a:prstGeom>
          <a:noFill/>
        </p:spPr>
        <p:txBody>
          <a:bodyPr wrap="square">
            <a:spAutoFit/>
          </a:bodyPr>
          <a:lstStyle/>
          <a:p>
            <a:pPr algn="ctr"/>
            <a:r>
              <a:rPr sz="1400" b="1" i="0">
                <a:solidFill>
                  <a:srgbClr val="00B4D8"/>
                </a:solidFill>
                <a:latin typeface="Calibri"/>
              </a:rPr>
              <a:t>Python
Producer</a:t>
            </a:r>
          </a:p>
        </p:txBody>
      </p:sp>
      <p:sp>
        <p:nvSpPr>
          <p:cNvPr id="13" name="TextBox 12"/>
          <p:cNvSpPr txBox="1"/>
          <p:nvPr/>
        </p:nvSpPr>
        <p:spPr>
          <a:xfrm>
            <a:off x="2322576" y="2267712"/>
            <a:ext cx="1572768" cy="1097280"/>
          </a:xfrm>
          <a:prstGeom prst="rect">
            <a:avLst/>
          </a:prstGeom>
          <a:noFill/>
        </p:spPr>
        <p:txBody>
          <a:bodyPr wrap="square">
            <a:spAutoFit/>
          </a:bodyPr>
          <a:lstStyle/>
          <a:p>
            <a:pPr algn="ctr"/>
            <a:r>
              <a:rPr sz="1100" b="0" i="0">
                <a:solidFill>
                  <a:srgbClr val="B0C4CE"/>
                </a:solidFill>
                <a:latin typeface="Calibri"/>
              </a:rPr>
              <a:t>kafka-python lib
JSON serialisation
100 ms/record</a:t>
            </a:r>
          </a:p>
        </p:txBody>
      </p:sp>
      <p:sp>
        <p:nvSpPr>
          <p:cNvPr id="14" name="TextBox 13"/>
          <p:cNvSpPr txBox="1"/>
          <p:nvPr/>
        </p:nvSpPr>
        <p:spPr>
          <a:xfrm>
            <a:off x="3986783" y="2148840"/>
            <a:ext cx="274320" cy="457200"/>
          </a:xfrm>
          <a:prstGeom prst="rect">
            <a:avLst/>
          </a:prstGeom>
          <a:noFill/>
        </p:spPr>
        <p:txBody>
          <a:bodyPr wrap="square">
            <a:spAutoFit/>
          </a:bodyPr>
          <a:lstStyle/>
          <a:p>
            <a:pPr algn="ctr"/>
            <a:r>
              <a:rPr sz="1800" b="0" i="0">
                <a:solidFill>
                  <a:srgbClr val="00B4D8"/>
                </a:solidFill>
                <a:latin typeface="Calibri"/>
              </a:rPr>
              <a:t>▶</a:t>
            </a:r>
          </a:p>
        </p:txBody>
      </p:sp>
      <p:sp>
        <p:nvSpPr>
          <p:cNvPr id="15" name="TextBox 14"/>
          <p:cNvSpPr txBox="1"/>
          <p:nvPr/>
        </p:nvSpPr>
        <p:spPr>
          <a:xfrm>
            <a:off x="2249424" y="3566160"/>
            <a:ext cx="1719072" cy="347472"/>
          </a:xfrm>
          <a:prstGeom prst="rect">
            <a:avLst/>
          </a:prstGeom>
          <a:noFill/>
        </p:spPr>
        <p:txBody>
          <a:bodyPr wrap="square">
            <a:spAutoFit/>
          </a:bodyPr>
          <a:lstStyle/>
          <a:p>
            <a:pPr algn="ctr"/>
            <a:r>
              <a:rPr sz="1100" b="0" i="0">
                <a:solidFill>
                  <a:srgbClr val="B0C4CE"/>
                </a:solidFill>
                <a:latin typeface="Calibri"/>
              </a:rPr>
              <a:t>Ingestion</a:t>
            </a:r>
          </a:p>
        </p:txBody>
      </p:sp>
      <p:sp>
        <p:nvSpPr>
          <p:cNvPr id="16" name="Rectangle 15"/>
          <p:cNvSpPr/>
          <p:nvPr/>
        </p:nvSpPr>
        <p:spPr>
          <a:xfrm>
            <a:off x="4242816" y="1554480"/>
            <a:ext cx="1719072" cy="1920240"/>
          </a:xfrm>
          <a:prstGeom prst="rect">
            <a:avLst/>
          </a:prstGeom>
          <a:solidFill>
            <a:srgbClr val="162A3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15968" y="1645920"/>
            <a:ext cx="1572768" cy="594360"/>
          </a:xfrm>
          <a:prstGeom prst="rect">
            <a:avLst/>
          </a:prstGeom>
          <a:noFill/>
        </p:spPr>
        <p:txBody>
          <a:bodyPr wrap="square">
            <a:spAutoFit/>
          </a:bodyPr>
          <a:lstStyle/>
          <a:p>
            <a:pPr algn="ctr"/>
            <a:r>
              <a:rPr sz="1400" b="1" i="0">
                <a:solidFill>
                  <a:srgbClr val="00B4D8"/>
                </a:solidFill>
                <a:latin typeface="Calibri"/>
              </a:rPr>
              <a:t>Kafka
taxi-raw</a:t>
            </a:r>
          </a:p>
        </p:txBody>
      </p:sp>
      <p:sp>
        <p:nvSpPr>
          <p:cNvPr id="18" name="TextBox 17"/>
          <p:cNvSpPr txBox="1"/>
          <p:nvPr/>
        </p:nvSpPr>
        <p:spPr>
          <a:xfrm>
            <a:off x="4315968" y="2267712"/>
            <a:ext cx="1572768" cy="1097280"/>
          </a:xfrm>
          <a:prstGeom prst="rect">
            <a:avLst/>
          </a:prstGeom>
          <a:noFill/>
        </p:spPr>
        <p:txBody>
          <a:bodyPr wrap="square">
            <a:spAutoFit/>
          </a:bodyPr>
          <a:lstStyle/>
          <a:p>
            <a:pPr algn="ctr"/>
            <a:r>
              <a:rPr sz="1100" b="0" i="0">
                <a:solidFill>
                  <a:srgbClr val="B0C4CE"/>
                </a:solidFill>
                <a:latin typeface="Calibri"/>
              </a:rPr>
              <a:t>Topic buffer
Offset tracking
Zookeeper managed</a:t>
            </a:r>
          </a:p>
        </p:txBody>
      </p:sp>
      <p:sp>
        <p:nvSpPr>
          <p:cNvPr id="19" name="TextBox 18"/>
          <p:cNvSpPr txBox="1"/>
          <p:nvPr/>
        </p:nvSpPr>
        <p:spPr>
          <a:xfrm>
            <a:off x="5980176" y="2148840"/>
            <a:ext cx="274320" cy="457200"/>
          </a:xfrm>
          <a:prstGeom prst="rect">
            <a:avLst/>
          </a:prstGeom>
          <a:noFill/>
        </p:spPr>
        <p:txBody>
          <a:bodyPr wrap="square">
            <a:spAutoFit/>
          </a:bodyPr>
          <a:lstStyle/>
          <a:p>
            <a:pPr algn="ctr"/>
            <a:r>
              <a:rPr sz="1800" b="0" i="0">
                <a:solidFill>
                  <a:srgbClr val="00B4D8"/>
                </a:solidFill>
                <a:latin typeface="Calibri"/>
              </a:rPr>
              <a:t>▶</a:t>
            </a:r>
          </a:p>
        </p:txBody>
      </p:sp>
      <p:sp>
        <p:nvSpPr>
          <p:cNvPr id="20" name="TextBox 19"/>
          <p:cNvSpPr txBox="1"/>
          <p:nvPr/>
        </p:nvSpPr>
        <p:spPr>
          <a:xfrm>
            <a:off x="4242816" y="3566160"/>
            <a:ext cx="1719072" cy="347472"/>
          </a:xfrm>
          <a:prstGeom prst="rect">
            <a:avLst/>
          </a:prstGeom>
          <a:noFill/>
        </p:spPr>
        <p:txBody>
          <a:bodyPr wrap="square">
            <a:spAutoFit/>
          </a:bodyPr>
          <a:lstStyle/>
          <a:p>
            <a:pPr algn="ctr"/>
            <a:r>
              <a:rPr sz="1100" b="0" i="0">
                <a:solidFill>
                  <a:srgbClr val="B0C4CE"/>
                </a:solidFill>
                <a:latin typeface="Calibri"/>
              </a:rPr>
              <a:t>Streaming Bus</a:t>
            </a:r>
          </a:p>
        </p:txBody>
      </p:sp>
      <p:sp>
        <p:nvSpPr>
          <p:cNvPr id="21" name="Rectangle 20"/>
          <p:cNvSpPr/>
          <p:nvPr/>
        </p:nvSpPr>
        <p:spPr>
          <a:xfrm>
            <a:off x="6236208" y="1554480"/>
            <a:ext cx="1719072" cy="1920240"/>
          </a:xfrm>
          <a:prstGeom prst="rect">
            <a:avLst/>
          </a:prstGeom>
          <a:solidFill>
            <a:srgbClr val="162A3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0" y="1645920"/>
            <a:ext cx="1572768" cy="594360"/>
          </a:xfrm>
          <a:prstGeom prst="rect">
            <a:avLst/>
          </a:prstGeom>
          <a:noFill/>
        </p:spPr>
        <p:txBody>
          <a:bodyPr wrap="square">
            <a:spAutoFit/>
          </a:bodyPr>
          <a:lstStyle/>
          <a:p>
            <a:pPr algn="ctr"/>
            <a:r>
              <a:rPr sz="1400" b="1" i="0">
                <a:solidFill>
                  <a:srgbClr val="00B4D8"/>
                </a:solidFill>
                <a:latin typeface="Calibri"/>
              </a:rPr>
              <a:t>Spark
Streaming</a:t>
            </a:r>
          </a:p>
        </p:txBody>
      </p:sp>
      <p:sp>
        <p:nvSpPr>
          <p:cNvPr id="23" name="TextBox 22"/>
          <p:cNvSpPr txBox="1"/>
          <p:nvPr/>
        </p:nvSpPr>
        <p:spPr>
          <a:xfrm>
            <a:off x="6309360" y="2267712"/>
            <a:ext cx="1572768" cy="1097280"/>
          </a:xfrm>
          <a:prstGeom prst="rect">
            <a:avLst/>
          </a:prstGeom>
          <a:noFill/>
        </p:spPr>
        <p:txBody>
          <a:bodyPr wrap="square">
            <a:spAutoFit/>
          </a:bodyPr>
          <a:lstStyle/>
          <a:p>
            <a:pPr algn="ctr"/>
            <a:r>
              <a:rPr sz="1100" b="0" i="0">
                <a:solidFill>
                  <a:srgbClr val="B0C4CE"/>
                </a:solidFill>
                <a:latin typeface="Calibri"/>
              </a:rPr>
              <a:t>Worker 1 (1 core)
Clean · Detect
Join → HDFS</a:t>
            </a:r>
          </a:p>
        </p:txBody>
      </p:sp>
      <p:sp>
        <p:nvSpPr>
          <p:cNvPr id="24" name="TextBox 23"/>
          <p:cNvSpPr txBox="1"/>
          <p:nvPr/>
        </p:nvSpPr>
        <p:spPr>
          <a:xfrm>
            <a:off x="7973568" y="2148840"/>
            <a:ext cx="274320" cy="457200"/>
          </a:xfrm>
          <a:prstGeom prst="rect">
            <a:avLst/>
          </a:prstGeom>
          <a:noFill/>
        </p:spPr>
        <p:txBody>
          <a:bodyPr wrap="square">
            <a:spAutoFit/>
          </a:bodyPr>
          <a:lstStyle/>
          <a:p>
            <a:pPr algn="ctr"/>
            <a:r>
              <a:rPr sz="1800" b="0" i="0">
                <a:solidFill>
                  <a:srgbClr val="00B4D8"/>
                </a:solidFill>
                <a:latin typeface="Calibri"/>
              </a:rPr>
              <a:t>▶</a:t>
            </a:r>
          </a:p>
        </p:txBody>
      </p:sp>
      <p:sp>
        <p:nvSpPr>
          <p:cNvPr id="25" name="TextBox 24"/>
          <p:cNvSpPr txBox="1"/>
          <p:nvPr/>
        </p:nvSpPr>
        <p:spPr>
          <a:xfrm>
            <a:off x="6236208" y="3566160"/>
            <a:ext cx="1719072" cy="347472"/>
          </a:xfrm>
          <a:prstGeom prst="rect">
            <a:avLst/>
          </a:prstGeom>
          <a:noFill/>
        </p:spPr>
        <p:txBody>
          <a:bodyPr wrap="square">
            <a:spAutoFit/>
          </a:bodyPr>
          <a:lstStyle/>
          <a:p>
            <a:pPr algn="ctr"/>
            <a:r>
              <a:rPr sz="1100" b="0" i="0">
                <a:solidFill>
                  <a:srgbClr val="B0C4CE"/>
                </a:solidFill>
                <a:latin typeface="Calibri"/>
              </a:rPr>
              <a:t>Processing</a:t>
            </a:r>
          </a:p>
        </p:txBody>
      </p:sp>
      <p:sp>
        <p:nvSpPr>
          <p:cNvPr id="26" name="Rectangle 25"/>
          <p:cNvSpPr/>
          <p:nvPr/>
        </p:nvSpPr>
        <p:spPr>
          <a:xfrm>
            <a:off x="8229600" y="1554480"/>
            <a:ext cx="1719072" cy="1920240"/>
          </a:xfrm>
          <a:prstGeom prst="rect">
            <a:avLst/>
          </a:prstGeom>
          <a:solidFill>
            <a:srgbClr val="162A3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02752" y="1645920"/>
            <a:ext cx="1572768" cy="594360"/>
          </a:xfrm>
          <a:prstGeom prst="rect">
            <a:avLst/>
          </a:prstGeom>
          <a:noFill/>
        </p:spPr>
        <p:txBody>
          <a:bodyPr wrap="square">
            <a:spAutoFit/>
          </a:bodyPr>
          <a:lstStyle/>
          <a:p>
            <a:pPr algn="ctr"/>
            <a:r>
              <a:rPr sz="1400" b="1" i="0">
                <a:solidFill>
                  <a:srgbClr val="00B4D8"/>
                </a:solidFill>
                <a:latin typeface="Calibri"/>
              </a:rPr>
              <a:t>HDFS</a:t>
            </a:r>
          </a:p>
        </p:txBody>
      </p:sp>
      <p:sp>
        <p:nvSpPr>
          <p:cNvPr id="28" name="TextBox 27"/>
          <p:cNvSpPr txBox="1"/>
          <p:nvPr/>
        </p:nvSpPr>
        <p:spPr>
          <a:xfrm>
            <a:off x="8302752" y="2267712"/>
            <a:ext cx="1572768" cy="1097280"/>
          </a:xfrm>
          <a:prstGeom prst="rect">
            <a:avLst/>
          </a:prstGeom>
          <a:noFill/>
        </p:spPr>
        <p:txBody>
          <a:bodyPr wrap="square">
            <a:spAutoFit/>
          </a:bodyPr>
          <a:lstStyle/>
          <a:p>
            <a:pPr algn="ctr"/>
            <a:r>
              <a:rPr sz="1100" b="0" i="0">
                <a:solidFill>
                  <a:srgbClr val="B0C4CE"/>
                </a:solidFill>
                <a:latin typeface="Calibri"/>
              </a:rPr>
              <a:t>/taxi/clean
/taxi/joined
/taxi/anomalies</a:t>
            </a:r>
          </a:p>
        </p:txBody>
      </p:sp>
      <p:sp>
        <p:nvSpPr>
          <p:cNvPr id="29" name="TextBox 28"/>
          <p:cNvSpPr txBox="1"/>
          <p:nvPr/>
        </p:nvSpPr>
        <p:spPr>
          <a:xfrm>
            <a:off x="9966959" y="2148840"/>
            <a:ext cx="274320" cy="457200"/>
          </a:xfrm>
          <a:prstGeom prst="rect">
            <a:avLst/>
          </a:prstGeom>
          <a:noFill/>
        </p:spPr>
        <p:txBody>
          <a:bodyPr wrap="square">
            <a:spAutoFit/>
          </a:bodyPr>
          <a:lstStyle/>
          <a:p>
            <a:pPr algn="ctr"/>
            <a:r>
              <a:rPr sz="1800" b="0" i="0">
                <a:solidFill>
                  <a:srgbClr val="00B4D8"/>
                </a:solidFill>
                <a:latin typeface="Calibri"/>
              </a:rPr>
              <a:t>▶</a:t>
            </a:r>
          </a:p>
        </p:txBody>
      </p:sp>
      <p:sp>
        <p:nvSpPr>
          <p:cNvPr id="30" name="TextBox 29"/>
          <p:cNvSpPr txBox="1"/>
          <p:nvPr/>
        </p:nvSpPr>
        <p:spPr>
          <a:xfrm>
            <a:off x="8229600" y="3566160"/>
            <a:ext cx="1719072" cy="347472"/>
          </a:xfrm>
          <a:prstGeom prst="rect">
            <a:avLst/>
          </a:prstGeom>
          <a:noFill/>
        </p:spPr>
        <p:txBody>
          <a:bodyPr wrap="square">
            <a:spAutoFit/>
          </a:bodyPr>
          <a:lstStyle/>
          <a:p>
            <a:pPr algn="ctr"/>
            <a:r>
              <a:rPr sz="1100" b="0" i="0">
                <a:solidFill>
                  <a:srgbClr val="B0C4CE"/>
                </a:solidFill>
                <a:latin typeface="Calibri"/>
              </a:rPr>
              <a:t>Distributed Storage</a:t>
            </a:r>
          </a:p>
        </p:txBody>
      </p:sp>
      <p:sp>
        <p:nvSpPr>
          <p:cNvPr id="31" name="Rectangle 30"/>
          <p:cNvSpPr/>
          <p:nvPr/>
        </p:nvSpPr>
        <p:spPr>
          <a:xfrm>
            <a:off x="10222992" y="1554480"/>
            <a:ext cx="1719072" cy="1920240"/>
          </a:xfrm>
          <a:prstGeom prst="rect">
            <a:avLst/>
          </a:prstGeom>
          <a:solidFill>
            <a:srgbClr val="02779A"/>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96144" y="1645920"/>
            <a:ext cx="1572768" cy="594360"/>
          </a:xfrm>
          <a:prstGeom prst="rect">
            <a:avLst/>
          </a:prstGeom>
          <a:noFill/>
        </p:spPr>
        <p:txBody>
          <a:bodyPr wrap="square">
            <a:spAutoFit/>
          </a:bodyPr>
          <a:lstStyle/>
          <a:p>
            <a:pPr algn="ctr"/>
            <a:r>
              <a:rPr sz="1400" b="1" i="0">
                <a:solidFill>
                  <a:srgbClr val="00B4D8"/>
                </a:solidFill>
                <a:latin typeface="Calibri"/>
              </a:rPr>
              <a:t>MapReduce
× 3</a:t>
            </a:r>
          </a:p>
        </p:txBody>
      </p:sp>
      <p:sp>
        <p:nvSpPr>
          <p:cNvPr id="33" name="TextBox 32"/>
          <p:cNvSpPr txBox="1"/>
          <p:nvPr/>
        </p:nvSpPr>
        <p:spPr>
          <a:xfrm>
            <a:off x="10296144" y="2267712"/>
            <a:ext cx="1572768" cy="1097280"/>
          </a:xfrm>
          <a:prstGeom prst="rect">
            <a:avLst/>
          </a:prstGeom>
          <a:noFill/>
        </p:spPr>
        <p:txBody>
          <a:bodyPr wrap="square">
            <a:spAutoFit/>
          </a:bodyPr>
          <a:lstStyle/>
          <a:p>
            <a:pPr algn="ctr"/>
            <a:r>
              <a:rPr sz="1100" b="0" i="0">
                <a:solidFill>
                  <a:srgbClr val="B0C4CE"/>
                </a:solidFill>
                <a:latin typeface="Calibri"/>
              </a:rPr>
              <a:t>Worker 2 (1 core)
Trips · Revenue
Anomalies/borough</a:t>
            </a:r>
          </a:p>
        </p:txBody>
      </p:sp>
      <p:sp>
        <p:nvSpPr>
          <p:cNvPr id="34" name="TextBox 33"/>
          <p:cNvSpPr txBox="1"/>
          <p:nvPr/>
        </p:nvSpPr>
        <p:spPr>
          <a:xfrm>
            <a:off x="10222992" y="3566160"/>
            <a:ext cx="1719072" cy="347472"/>
          </a:xfrm>
          <a:prstGeom prst="rect">
            <a:avLst/>
          </a:prstGeom>
          <a:noFill/>
        </p:spPr>
        <p:txBody>
          <a:bodyPr wrap="square">
            <a:spAutoFit/>
          </a:bodyPr>
          <a:lstStyle/>
          <a:p>
            <a:pPr algn="ctr"/>
            <a:r>
              <a:rPr sz="1100" b="0" i="0">
                <a:solidFill>
                  <a:srgbClr val="B0C4CE"/>
                </a:solidFill>
                <a:latin typeface="Calibri"/>
              </a:rPr>
              <a:t>Batch Analytics</a:t>
            </a:r>
          </a:p>
        </p:txBody>
      </p:sp>
      <p:sp>
        <p:nvSpPr>
          <p:cNvPr id="35" name="Rectangle 34"/>
          <p:cNvSpPr/>
          <p:nvPr/>
        </p:nvSpPr>
        <p:spPr>
          <a:xfrm>
            <a:off x="256032" y="4846320"/>
            <a:ext cx="11676888" cy="411480"/>
          </a:xfrm>
          <a:prstGeom prst="rect">
            <a:avLst/>
          </a:prstGeom>
          <a:solidFill>
            <a:srgbClr val="09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4892040"/>
            <a:ext cx="11338560" cy="320040"/>
          </a:xfrm>
          <a:prstGeom prst="rect">
            <a:avLst/>
          </a:prstGeom>
          <a:noFill/>
        </p:spPr>
        <p:txBody>
          <a:bodyPr wrap="square">
            <a:spAutoFit/>
          </a:bodyPr>
          <a:lstStyle/>
          <a:p>
            <a:pPr algn="l"/>
            <a:r>
              <a:rPr sz="1100" b="1" i="0">
                <a:solidFill>
                  <a:srgbClr val="00B4D8"/>
                </a:solidFill>
                <a:latin typeface="Calibri"/>
              </a:rPr>
              <a:t>🐳  8 containers in docker-compose.yml  ·  network: taxi-net  ·  Zookeeper · Kafka · Kafka-UI · NameNode · DataNode · Spark Master · Worker-1 (streaming) · Worker-2 (MapReduce)</a:t>
            </a:r>
          </a:p>
        </p:txBody>
      </p:sp>
      <p:sp>
        <p:nvSpPr>
          <p:cNvPr id="37" name="Rectangle 36"/>
          <p:cNvSpPr/>
          <p:nvPr/>
        </p:nvSpPr>
        <p:spPr>
          <a:xfrm>
            <a:off x="256032" y="5394960"/>
            <a:ext cx="11676888" cy="123444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56032" y="5394960"/>
            <a:ext cx="91440" cy="12344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468112"/>
            <a:ext cx="3657600" cy="347472"/>
          </a:xfrm>
          <a:prstGeom prst="rect">
            <a:avLst/>
          </a:prstGeom>
          <a:noFill/>
        </p:spPr>
        <p:txBody>
          <a:bodyPr wrap="square">
            <a:spAutoFit/>
          </a:bodyPr>
          <a:lstStyle/>
          <a:p>
            <a:pPr algn="l"/>
            <a:r>
              <a:rPr sz="1300" b="1" i="0">
                <a:solidFill>
                  <a:srgbClr val="00B4D8"/>
                </a:solidFill>
                <a:latin typeface="Calibri"/>
              </a:rPr>
              <a:t>Key Design Decisions</a:t>
            </a:r>
          </a:p>
        </p:txBody>
      </p:sp>
      <p:sp>
        <p:nvSpPr>
          <p:cNvPr id="40" name="TextBox 39"/>
          <p:cNvSpPr txBox="1"/>
          <p:nvPr/>
        </p:nvSpPr>
        <p:spPr>
          <a:xfrm>
            <a:off x="457200" y="5715000"/>
            <a:ext cx="11430000" cy="749808"/>
          </a:xfrm>
          <a:prstGeom prst="rect">
            <a:avLst/>
          </a:prstGeom>
          <a:noFill/>
        </p:spPr>
        <p:txBody>
          <a:bodyPr wrap="square">
            <a:spAutoFit/>
          </a:bodyPr>
          <a:lstStyle/>
          <a:p>
            <a:r>
              <a:rPr sz="1100" b="0" dirty="0">
                <a:solidFill>
                  <a:srgbClr val="B0C4CE"/>
                </a:solidFill>
                <a:latin typeface="Calibri"/>
              </a:rPr>
              <a:t>▸  Kafka decouples producer speed from Spark processing speed — if Spark is slow, messages queue safely</a:t>
            </a:r>
          </a:p>
          <a:p>
            <a:r>
              <a:rPr sz="1100" b="0" dirty="0">
                <a:solidFill>
                  <a:srgbClr val="B0C4CE"/>
                </a:solidFill>
                <a:latin typeface="Calibri"/>
              </a:rPr>
              <a:t>▸  Two dedicated Spark workers (1 core each): Worker-1 handles streaming, Worker-2 handles MapReduce — no resource conflict</a:t>
            </a:r>
          </a:p>
          <a:p>
            <a:r>
              <a:rPr sz="1100" b="0" dirty="0">
                <a:solidFill>
                  <a:srgbClr val="B0C4CE"/>
                </a:solidFill>
                <a:latin typeface="Calibri"/>
              </a:rPr>
              <a:t>▸  Spark Broadcast join for the zone lookup avoids shuffling the large stream across the network</a:t>
            </a:r>
          </a:p>
          <a:p>
            <a:r>
              <a:rPr sz="1100" b="0" dirty="0">
                <a:solidFill>
                  <a:srgbClr val="B0C4CE"/>
                </a:solidFill>
                <a:latin typeface="Calibri"/>
              </a:rPr>
              <a:t>▸  Parquet output format: columnar, compressed, schema-embedded — MapReduce reads only needed columns</a:t>
            </a:r>
          </a:p>
          <a:p>
            <a:r>
              <a:rPr sz="1100" b="0" dirty="0">
                <a:solidFill>
                  <a:srgbClr val="B0C4CE"/>
                </a:solidFill>
                <a:latin typeface="Calibri"/>
              </a:rPr>
              <a:t>▸  Anomalies written to a separate path — not deleted — so analysts can review flagged records later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201168"/>
            <a:ext cx="7315200" cy="320040"/>
          </a:xfrm>
          <a:prstGeom prst="rect">
            <a:avLst/>
          </a:prstGeom>
          <a:noFill/>
        </p:spPr>
        <p:txBody>
          <a:bodyPr wrap="square">
            <a:spAutoFit/>
          </a:bodyPr>
          <a:lstStyle/>
          <a:p>
            <a:pPr algn="l"/>
            <a:r>
              <a:rPr sz="1100" b="1" i="0">
                <a:solidFill>
                  <a:srgbClr val="00B4D8"/>
                </a:solidFill>
                <a:latin typeface="Calibri"/>
              </a:rPr>
              <a:t>STAGE 1 + 2 — INGESTION</a:t>
            </a:r>
          </a:p>
        </p:txBody>
      </p:sp>
      <p:sp>
        <p:nvSpPr>
          <p:cNvPr id="5" name="TextBox 4"/>
          <p:cNvSpPr txBox="1"/>
          <p:nvPr/>
        </p:nvSpPr>
        <p:spPr>
          <a:xfrm>
            <a:off x="320040" y="530352"/>
            <a:ext cx="11521440" cy="685800"/>
          </a:xfrm>
          <a:prstGeom prst="rect">
            <a:avLst/>
          </a:prstGeom>
          <a:noFill/>
        </p:spPr>
        <p:txBody>
          <a:bodyPr wrap="square">
            <a:spAutoFit/>
          </a:bodyPr>
          <a:lstStyle/>
          <a:p>
            <a:pPr algn="l"/>
            <a:r>
              <a:rPr sz="3400" b="1" i="0">
                <a:solidFill>
                  <a:srgbClr val="FFFFFF"/>
                </a:solidFill>
                <a:latin typeface="Calibri"/>
              </a:rPr>
              <a:t>Python Producer &amp; Kafka</a:t>
            </a:r>
          </a:p>
        </p:txBody>
      </p:sp>
      <p:sp>
        <p:nvSpPr>
          <p:cNvPr id="6" name="Rectangle 5"/>
          <p:cNvSpPr/>
          <p:nvPr/>
        </p:nvSpPr>
        <p:spPr>
          <a:xfrm>
            <a:off x="320040" y="1417320"/>
            <a:ext cx="5577840" cy="516636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417320"/>
            <a:ext cx="91440" cy="5166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508760"/>
            <a:ext cx="5303520" cy="384048"/>
          </a:xfrm>
          <a:prstGeom prst="rect">
            <a:avLst/>
          </a:prstGeom>
          <a:noFill/>
        </p:spPr>
        <p:txBody>
          <a:bodyPr wrap="square">
            <a:spAutoFit/>
          </a:bodyPr>
          <a:lstStyle/>
          <a:p>
            <a:pPr algn="l"/>
            <a:r>
              <a:rPr sz="1600" b="1" i="0">
                <a:solidFill>
                  <a:srgbClr val="00B4D8"/>
                </a:solidFill>
                <a:latin typeface="Calibri"/>
              </a:rPr>
              <a:t>Python Producer  (producer.py)</a:t>
            </a:r>
          </a:p>
        </p:txBody>
      </p:sp>
      <p:sp>
        <p:nvSpPr>
          <p:cNvPr id="9" name="Rectangle 8"/>
          <p:cNvSpPr/>
          <p:nvPr/>
        </p:nvSpPr>
        <p:spPr>
          <a:xfrm>
            <a:off x="411480" y="1993392"/>
            <a:ext cx="1828800" cy="365760"/>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9768" y="2029968"/>
            <a:ext cx="1792224" cy="329184"/>
          </a:xfrm>
          <a:prstGeom prst="rect">
            <a:avLst/>
          </a:prstGeom>
          <a:noFill/>
        </p:spPr>
        <p:txBody>
          <a:bodyPr wrap="square">
            <a:spAutoFit/>
          </a:bodyPr>
          <a:lstStyle/>
          <a:p>
            <a:pPr algn="ctr"/>
            <a:r>
              <a:rPr sz="1200" b="1" i="0">
                <a:solidFill>
                  <a:srgbClr val="FFFFFF"/>
                </a:solidFill>
                <a:latin typeface="Consolas"/>
              </a:rPr>
              <a:t>csv.DictReader</a:t>
            </a:r>
          </a:p>
        </p:txBody>
      </p:sp>
      <p:sp>
        <p:nvSpPr>
          <p:cNvPr id="11" name="TextBox 10"/>
          <p:cNvSpPr txBox="1"/>
          <p:nvPr/>
        </p:nvSpPr>
        <p:spPr>
          <a:xfrm>
            <a:off x="2331720" y="2029968"/>
            <a:ext cx="3474720" cy="329184"/>
          </a:xfrm>
          <a:prstGeom prst="rect">
            <a:avLst/>
          </a:prstGeom>
          <a:noFill/>
        </p:spPr>
        <p:txBody>
          <a:bodyPr wrap="square">
            <a:spAutoFit/>
          </a:bodyPr>
          <a:lstStyle/>
          <a:p>
            <a:pPr algn="l"/>
            <a:r>
              <a:rPr sz="1200" b="0" i="0">
                <a:solidFill>
                  <a:srgbClr val="B0C4CE"/>
                </a:solidFill>
                <a:latin typeface="Calibri"/>
              </a:rPr>
              <a:t>reads tab-separated CSV without loading full file</a:t>
            </a:r>
          </a:p>
        </p:txBody>
      </p:sp>
      <p:sp>
        <p:nvSpPr>
          <p:cNvPr id="12" name="Rectangle 11"/>
          <p:cNvSpPr/>
          <p:nvPr/>
        </p:nvSpPr>
        <p:spPr>
          <a:xfrm>
            <a:off x="411480" y="2523744"/>
            <a:ext cx="1828800" cy="365760"/>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 y="2560320"/>
            <a:ext cx="1792224" cy="329184"/>
          </a:xfrm>
          <a:prstGeom prst="rect">
            <a:avLst/>
          </a:prstGeom>
          <a:noFill/>
        </p:spPr>
        <p:txBody>
          <a:bodyPr wrap="square">
            <a:spAutoFit/>
          </a:bodyPr>
          <a:lstStyle/>
          <a:p>
            <a:pPr algn="ctr"/>
            <a:r>
              <a:rPr sz="1200" b="1" i="0">
                <a:solidFill>
                  <a:srgbClr val="FFFFFF"/>
                </a:solidFill>
                <a:latin typeface="Consolas"/>
              </a:rPr>
              <a:t>parse_row()</a:t>
            </a:r>
          </a:p>
        </p:txBody>
      </p:sp>
      <p:sp>
        <p:nvSpPr>
          <p:cNvPr id="14" name="TextBox 13"/>
          <p:cNvSpPr txBox="1"/>
          <p:nvPr/>
        </p:nvSpPr>
        <p:spPr>
          <a:xfrm>
            <a:off x="2331720" y="2560320"/>
            <a:ext cx="3474720" cy="329184"/>
          </a:xfrm>
          <a:prstGeom prst="rect">
            <a:avLst/>
          </a:prstGeom>
          <a:noFill/>
        </p:spPr>
        <p:txBody>
          <a:bodyPr wrap="square">
            <a:spAutoFit/>
          </a:bodyPr>
          <a:lstStyle/>
          <a:p>
            <a:pPr algn="l"/>
            <a:r>
              <a:rPr sz="1200" b="0" i="0">
                <a:solidFill>
                  <a:srgbClr val="B0C4CE"/>
                </a:solidFill>
                <a:latin typeface="Calibri"/>
              </a:rPr>
              <a:t>casts all string fields to int / float — skips bad rows</a:t>
            </a:r>
          </a:p>
        </p:txBody>
      </p:sp>
      <p:sp>
        <p:nvSpPr>
          <p:cNvPr id="15" name="Rectangle 14"/>
          <p:cNvSpPr/>
          <p:nvPr/>
        </p:nvSpPr>
        <p:spPr>
          <a:xfrm>
            <a:off x="411480" y="3054096"/>
            <a:ext cx="1828800" cy="365760"/>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3090672"/>
            <a:ext cx="1792224" cy="329184"/>
          </a:xfrm>
          <a:prstGeom prst="rect">
            <a:avLst/>
          </a:prstGeom>
          <a:noFill/>
        </p:spPr>
        <p:txBody>
          <a:bodyPr wrap="square">
            <a:spAutoFit/>
          </a:bodyPr>
          <a:lstStyle/>
          <a:p>
            <a:pPr algn="ctr"/>
            <a:r>
              <a:rPr sz="1200" b="1" i="0">
                <a:solidFill>
                  <a:srgbClr val="FFFFFF"/>
                </a:solidFill>
                <a:latin typeface="Consolas"/>
              </a:rPr>
              <a:t>KafkaProducer</a:t>
            </a:r>
          </a:p>
        </p:txBody>
      </p:sp>
      <p:sp>
        <p:nvSpPr>
          <p:cNvPr id="17" name="TextBox 16"/>
          <p:cNvSpPr txBox="1"/>
          <p:nvPr/>
        </p:nvSpPr>
        <p:spPr>
          <a:xfrm>
            <a:off x="2331720" y="3090672"/>
            <a:ext cx="3474720" cy="329184"/>
          </a:xfrm>
          <a:prstGeom prst="rect">
            <a:avLst/>
          </a:prstGeom>
          <a:noFill/>
        </p:spPr>
        <p:txBody>
          <a:bodyPr wrap="square">
            <a:spAutoFit/>
          </a:bodyPr>
          <a:lstStyle/>
          <a:p>
            <a:pPr algn="l"/>
            <a:r>
              <a:rPr sz="1200" b="0" i="0">
                <a:solidFill>
                  <a:srgbClr val="B0C4CE"/>
                </a:solidFill>
                <a:latin typeface="Calibri"/>
              </a:rPr>
              <a:t>kafka-python lib · acks='all' · retries=3</a:t>
            </a:r>
          </a:p>
        </p:txBody>
      </p:sp>
      <p:sp>
        <p:nvSpPr>
          <p:cNvPr id="18" name="Rectangle 17"/>
          <p:cNvSpPr/>
          <p:nvPr/>
        </p:nvSpPr>
        <p:spPr>
          <a:xfrm>
            <a:off x="411480" y="3584448"/>
            <a:ext cx="1828800" cy="365760"/>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9768" y="3621024"/>
            <a:ext cx="1792224" cy="329184"/>
          </a:xfrm>
          <a:prstGeom prst="rect">
            <a:avLst/>
          </a:prstGeom>
          <a:noFill/>
        </p:spPr>
        <p:txBody>
          <a:bodyPr wrap="square">
            <a:spAutoFit/>
          </a:bodyPr>
          <a:lstStyle/>
          <a:p>
            <a:pPr algn="ctr"/>
            <a:r>
              <a:rPr sz="1200" b="1" i="0">
                <a:solidFill>
                  <a:srgbClr val="FFFFFF"/>
                </a:solidFill>
                <a:latin typeface="Consolas"/>
              </a:rPr>
              <a:t>value_serializer</a:t>
            </a:r>
          </a:p>
        </p:txBody>
      </p:sp>
      <p:sp>
        <p:nvSpPr>
          <p:cNvPr id="20" name="TextBox 19"/>
          <p:cNvSpPr txBox="1"/>
          <p:nvPr/>
        </p:nvSpPr>
        <p:spPr>
          <a:xfrm>
            <a:off x="2331720" y="3621024"/>
            <a:ext cx="3474720" cy="329184"/>
          </a:xfrm>
          <a:prstGeom prst="rect">
            <a:avLst/>
          </a:prstGeom>
          <a:noFill/>
        </p:spPr>
        <p:txBody>
          <a:bodyPr wrap="square">
            <a:spAutoFit/>
          </a:bodyPr>
          <a:lstStyle/>
          <a:p>
            <a:pPr algn="l"/>
            <a:r>
              <a:rPr sz="1200" b="0" i="0">
                <a:solidFill>
                  <a:srgbClr val="B0C4CE"/>
                </a:solidFill>
                <a:latin typeface="Calibri"/>
              </a:rPr>
              <a:t>each record → UTF-8 JSON bytes before sending</a:t>
            </a:r>
          </a:p>
        </p:txBody>
      </p:sp>
      <p:sp>
        <p:nvSpPr>
          <p:cNvPr id="21" name="Rectangle 20"/>
          <p:cNvSpPr/>
          <p:nvPr/>
        </p:nvSpPr>
        <p:spPr>
          <a:xfrm>
            <a:off x="411480" y="4114800"/>
            <a:ext cx="1828800" cy="365760"/>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9768" y="4151376"/>
            <a:ext cx="1792224" cy="329184"/>
          </a:xfrm>
          <a:prstGeom prst="rect">
            <a:avLst/>
          </a:prstGeom>
          <a:noFill/>
        </p:spPr>
        <p:txBody>
          <a:bodyPr wrap="square">
            <a:spAutoFit/>
          </a:bodyPr>
          <a:lstStyle/>
          <a:p>
            <a:pPr algn="ctr"/>
            <a:r>
              <a:rPr sz="1200" b="1" i="0">
                <a:solidFill>
                  <a:srgbClr val="FFFFFF"/>
                </a:solidFill>
                <a:latin typeface="Consolas"/>
              </a:rPr>
              <a:t>producer.send()</a:t>
            </a:r>
          </a:p>
        </p:txBody>
      </p:sp>
      <p:sp>
        <p:nvSpPr>
          <p:cNvPr id="23" name="TextBox 22"/>
          <p:cNvSpPr txBox="1"/>
          <p:nvPr/>
        </p:nvSpPr>
        <p:spPr>
          <a:xfrm>
            <a:off x="2331720" y="4151376"/>
            <a:ext cx="3474720" cy="329184"/>
          </a:xfrm>
          <a:prstGeom prst="rect">
            <a:avLst/>
          </a:prstGeom>
          <a:noFill/>
        </p:spPr>
        <p:txBody>
          <a:bodyPr wrap="square">
            <a:spAutoFit/>
          </a:bodyPr>
          <a:lstStyle/>
          <a:p>
            <a:pPr algn="l"/>
            <a:r>
              <a:rPr sz="1200" b="0" i="0">
                <a:solidFill>
                  <a:srgbClr val="B0C4CE"/>
                </a:solidFill>
                <a:latin typeface="Calibri"/>
              </a:rPr>
              <a:t>async — buffers internally, flushed in batches</a:t>
            </a:r>
          </a:p>
        </p:txBody>
      </p:sp>
      <p:sp>
        <p:nvSpPr>
          <p:cNvPr id="24" name="Rectangle 23"/>
          <p:cNvSpPr/>
          <p:nvPr/>
        </p:nvSpPr>
        <p:spPr>
          <a:xfrm>
            <a:off x="411480" y="4645152"/>
            <a:ext cx="1828800" cy="365760"/>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9768" y="4681728"/>
            <a:ext cx="1792224" cy="329184"/>
          </a:xfrm>
          <a:prstGeom prst="rect">
            <a:avLst/>
          </a:prstGeom>
          <a:noFill/>
        </p:spPr>
        <p:txBody>
          <a:bodyPr wrap="square">
            <a:spAutoFit/>
          </a:bodyPr>
          <a:lstStyle/>
          <a:p>
            <a:pPr algn="ctr"/>
            <a:r>
              <a:rPr sz="1200" b="1" i="0">
                <a:solidFill>
                  <a:srgbClr val="FFFFFF"/>
                </a:solidFill>
                <a:latin typeface="Consolas"/>
              </a:rPr>
              <a:t>time.sleep(0.1)</a:t>
            </a:r>
          </a:p>
        </p:txBody>
      </p:sp>
      <p:sp>
        <p:nvSpPr>
          <p:cNvPr id="26" name="TextBox 25"/>
          <p:cNvSpPr txBox="1"/>
          <p:nvPr/>
        </p:nvSpPr>
        <p:spPr>
          <a:xfrm>
            <a:off x="2331720" y="4681728"/>
            <a:ext cx="3474720" cy="329184"/>
          </a:xfrm>
          <a:prstGeom prst="rect">
            <a:avLst/>
          </a:prstGeom>
          <a:noFill/>
        </p:spPr>
        <p:txBody>
          <a:bodyPr wrap="square">
            <a:spAutoFit/>
          </a:bodyPr>
          <a:lstStyle/>
          <a:p>
            <a:pPr algn="l"/>
            <a:r>
              <a:rPr sz="1200" b="0" i="0">
                <a:solidFill>
                  <a:srgbClr val="B0C4CE"/>
                </a:solidFill>
                <a:latin typeface="Calibri"/>
              </a:rPr>
              <a:t>100 ms delay simulates real-time device stream</a:t>
            </a:r>
          </a:p>
        </p:txBody>
      </p:sp>
      <p:sp>
        <p:nvSpPr>
          <p:cNvPr id="27" name="Rectangle 26"/>
          <p:cNvSpPr/>
          <p:nvPr/>
        </p:nvSpPr>
        <p:spPr>
          <a:xfrm>
            <a:off x="411480" y="5175504"/>
            <a:ext cx="1828800" cy="365760"/>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9768" y="5212080"/>
            <a:ext cx="1792224" cy="329184"/>
          </a:xfrm>
          <a:prstGeom prst="rect">
            <a:avLst/>
          </a:prstGeom>
          <a:noFill/>
        </p:spPr>
        <p:txBody>
          <a:bodyPr wrap="square">
            <a:spAutoFit/>
          </a:bodyPr>
          <a:lstStyle/>
          <a:p>
            <a:pPr algn="ctr"/>
            <a:r>
              <a:rPr sz="1200" b="1" i="0">
                <a:solidFill>
                  <a:srgbClr val="FFFFFF"/>
                </a:solidFill>
                <a:latin typeface="Consolas"/>
              </a:rPr>
              <a:t>Retry logic</a:t>
            </a:r>
          </a:p>
        </p:txBody>
      </p:sp>
      <p:sp>
        <p:nvSpPr>
          <p:cNvPr id="29" name="TextBox 28"/>
          <p:cNvSpPr txBox="1"/>
          <p:nvPr/>
        </p:nvSpPr>
        <p:spPr>
          <a:xfrm>
            <a:off x="2331720" y="5212080"/>
            <a:ext cx="3474720" cy="329184"/>
          </a:xfrm>
          <a:prstGeom prst="rect">
            <a:avLst/>
          </a:prstGeom>
          <a:noFill/>
        </p:spPr>
        <p:txBody>
          <a:bodyPr wrap="square">
            <a:spAutoFit/>
          </a:bodyPr>
          <a:lstStyle/>
          <a:p>
            <a:pPr algn="l"/>
            <a:r>
              <a:rPr sz="1200" b="0" i="0">
                <a:solidFill>
                  <a:srgbClr val="B0C4CE"/>
                </a:solidFill>
                <a:latin typeface="Calibri"/>
              </a:rPr>
              <a:t>waits up to 75 s for Kafka to be ready on startup</a:t>
            </a:r>
          </a:p>
        </p:txBody>
      </p:sp>
      <p:sp>
        <p:nvSpPr>
          <p:cNvPr id="30" name="Rectangle 29"/>
          <p:cNvSpPr/>
          <p:nvPr/>
        </p:nvSpPr>
        <p:spPr>
          <a:xfrm>
            <a:off x="6080760" y="1417320"/>
            <a:ext cx="5760720" cy="516636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080760" y="1417320"/>
            <a:ext cx="91440" cy="5166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63640" y="1508760"/>
            <a:ext cx="5486400" cy="384048"/>
          </a:xfrm>
          <a:prstGeom prst="rect">
            <a:avLst/>
          </a:prstGeom>
          <a:noFill/>
        </p:spPr>
        <p:txBody>
          <a:bodyPr wrap="square">
            <a:spAutoFit/>
          </a:bodyPr>
          <a:lstStyle/>
          <a:p>
            <a:pPr algn="l"/>
            <a:r>
              <a:rPr sz="1600" b="1" i="0">
                <a:solidFill>
                  <a:srgbClr val="00B4D8"/>
                </a:solidFill>
                <a:latin typeface="Calibri"/>
              </a:rPr>
              <a:t>Kafka  —  topic: taxi-raw</a:t>
            </a:r>
          </a:p>
        </p:txBody>
      </p:sp>
      <p:sp>
        <p:nvSpPr>
          <p:cNvPr id="33" name="Rectangle 32"/>
          <p:cNvSpPr/>
          <p:nvPr/>
        </p:nvSpPr>
        <p:spPr>
          <a:xfrm>
            <a:off x="6172200" y="1993392"/>
            <a:ext cx="2103120" cy="365760"/>
          </a:xfrm>
          <a:prstGeom prst="rect">
            <a:avLst/>
          </a:prstGeom>
          <a:solidFill>
            <a:srgbClr val="02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90488" y="2029968"/>
            <a:ext cx="2066543" cy="329184"/>
          </a:xfrm>
          <a:prstGeom prst="rect">
            <a:avLst/>
          </a:prstGeom>
          <a:noFill/>
        </p:spPr>
        <p:txBody>
          <a:bodyPr wrap="square">
            <a:spAutoFit/>
          </a:bodyPr>
          <a:lstStyle/>
          <a:p>
            <a:pPr algn="ctr"/>
            <a:r>
              <a:rPr sz="1200" b="1" i="0">
                <a:solidFill>
                  <a:srgbClr val="00B4D8"/>
                </a:solidFill>
                <a:latin typeface="Consolas"/>
              </a:rPr>
              <a:t>Topic 'taxi-raw'</a:t>
            </a:r>
          </a:p>
        </p:txBody>
      </p:sp>
      <p:sp>
        <p:nvSpPr>
          <p:cNvPr id="35" name="TextBox 34"/>
          <p:cNvSpPr txBox="1"/>
          <p:nvPr/>
        </p:nvSpPr>
        <p:spPr>
          <a:xfrm>
            <a:off x="8366760" y="2029968"/>
            <a:ext cx="3337560" cy="329184"/>
          </a:xfrm>
          <a:prstGeom prst="rect">
            <a:avLst/>
          </a:prstGeom>
          <a:noFill/>
        </p:spPr>
        <p:txBody>
          <a:bodyPr wrap="square">
            <a:spAutoFit/>
          </a:bodyPr>
          <a:lstStyle/>
          <a:p>
            <a:pPr algn="l"/>
            <a:r>
              <a:rPr sz="1200" b="0" i="0">
                <a:solidFill>
                  <a:srgbClr val="B0C4CE"/>
                </a:solidFill>
                <a:latin typeface="Calibri"/>
              </a:rPr>
              <a:t>the named, ordered, persistent message log</a:t>
            </a:r>
          </a:p>
        </p:txBody>
      </p:sp>
      <p:sp>
        <p:nvSpPr>
          <p:cNvPr id="36" name="Rectangle 35"/>
          <p:cNvSpPr/>
          <p:nvPr/>
        </p:nvSpPr>
        <p:spPr>
          <a:xfrm>
            <a:off x="6172200" y="2523744"/>
            <a:ext cx="2103120" cy="365760"/>
          </a:xfrm>
          <a:prstGeom prst="rect">
            <a:avLst/>
          </a:prstGeom>
          <a:solidFill>
            <a:srgbClr val="02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90488" y="2560320"/>
            <a:ext cx="2066543" cy="329184"/>
          </a:xfrm>
          <a:prstGeom prst="rect">
            <a:avLst/>
          </a:prstGeom>
          <a:noFill/>
        </p:spPr>
        <p:txBody>
          <a:bodyPr wrap="square">
            <a:spAutoFit/>
          </a:bodyPr>
          <a:lstStyle/>
          <a:p>
            <a:pPr algn="ctr"/>
            <a:r>
              <a:rPr sz="1200" b="1" i="0">
                <a:solidFill>
                  <a:srgbClr val="00B4D8"/>
                </a:solidFill>
                <a:latin typeface="Consolas"/>
              </a:rPr>
              <a:t>Partition: 1</a:t>
            </a:r>
          </a:p>
        </p:txBody>
      </p:sp>
      <p:sp>
        <p:nvSpPr>
          <p:cNvPr id="38" name="TextBox 37"/>
          <p:cNvSpPr txBox="1"/>
          <p:nvPr/>
        </p:nvSpPr>
        <p:spPr>
          <a:xfrm>
            <a:off x="8366760" y="2560320"/>
            <a:ext cx="3337560" cy="329184"/>
          </a:xfrm>
          <a:prstGeom prst="rect">
            <a:avLst/>
          </a:prstGeom>
          <a:noFill/>
        </p:spPr>
        <p:txBody>
          <a:bodyPr wrap="square">
            <a:spAutoFit/>
          </a:bodyPr>
          <a:lstStyle/>
          <a:p>
            <a:pPr algn="l"/>
            <a:r>
              <a:rPr sz="1200" b="0" i="0">
                <a:solidFill>
                  <a:srgbClr val="B0C4CE"/>
                </a:solidFill>
                <a:latin typeface="Calibri"/>
              </a:rPr>
              <a:t>single partition — ordered delivery guaranteed</a:t>
            </a:r>
          </a:p>
        </p:txBody>
      </p:sp>
      <p:sp>
        <p:nvSpPr>
          <p:cNvPr id="39" name="Rectangle 38"/>
          <p:cNvSpPr/>
          <p:nvPr/>
        </p:nvSpPr>
        <p:spPr>
          <a:xfrm>
            <a:off x="6172200" y="3054096"/>
            <a:ext cx="2103120" cy="365760"/>
          </a:xfrm>
          <a:prstGeom prst="rect">
            <a:avLst/>
          </a:prstGeom>
          <a:solidFill>
            <a:srgbClr val="02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190488" y="3090672"/>
            <a:ext cx="2066543" cy="329184"/>
          </a:xfrm>
          <a:prstGeom prst="rect">
            <a:avLst/>
          </a:prstGeom>
          <a:noFill/>
        </p:spPr>
        <p:txBody>
          <a:bodyPr wrap="square">
            <a:spAutoFit/>
          </a:bodyPr>
          <a:lstStyle/>
          <a:p>
            <a:pPr algn="ctr"/>
            <a:r>
              <a:rPr sz="1200" b="1" i="0">
                <a:solidFill>
                  <a:srgbClr val="00B4D8"/>
                </a:solidFill>
                <a:latin typeface="Consolas"/>
              </a:rPr>
              <a:t>Offsets</a:t>
            </a:r>
          </a:p>
        </p:txBody>
      </p:sp>
      <p:sp>
        <p:nvSpPr>
          <p:cNvPr id="41" name="TextBox 40"/>
          <p:cNvSpPr txBox="1"/>
          <p:nvPr/>
        </p:nvSpPr>
        <p:spPr>
          <a:xfrm>
            <a:off x="8366760" y="3090672"/>
            <a:ext cx="3337560" cy="329184"/>
          </a:xfrm>
          <a:prstGeom prst="rect">
            <a:avLst/>
          </a:prstGeom>
          <a:noFill/>
        </p:spPr>
        <p:txBody>
          <a:bodyPr wrap="square">
            <a:spAutoFit/>
          </a:bodyPr>
          <a:lstStyle/>
          <a:p>
            <a:pPr algn="l"/>
            <a:r>
              <a:rPr sz="1200" b="0" i="0">
                <a:solidFill>
                  <a:srgbClr val="B0C4CE"/>
                </a:solidFill>
                <a:latin typeface="Calibri"/>
              </a:rPr>
              <a:t>Spark tracks its read position; can replay from 0</a:t>
            </a:r>
          </a:p>
        </p:txBody>
      </p:sp>
      <p:sp>
        <p:nvSpPr>
          <p:cNvPr id="42" name="Rectangle 41"/>
          <p:cNvSpPr/>
          <p:nvPr/>
        </p:nvSpPr>
        <p:spPr>
          <a:xfrm>
            <a:off x="6172200" y="3584448"/>
            <a:ext cx="2103120" cy="365760"/>
          </a:xfrm>
          <a:prstGeom prst="rect">
            <a:avLst/>
          </a:prstGeom>
          <a:solidFill>
            <a:srgbClr val="02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90488" y="3621024"/>
            <a:ext cx="2066543" cy="329184"/>
          </a:xfrm>
          <a:prstGeom prst="rect">
            <a:avLst/>
          </a:prstGeom>
          <a:noFill/>
        </p:spPr>
        <p:txBody>
          <a:bodyPr wrap="square">
            <a:spAutoFit/>
          </a:bodyPr>
          <a:lstStyle/>
          <a:p>
            <a:pPr algn="ctr"/>
            <a:r>
              <a:rPr sz="1200" b="1" i="0">
                <a:solidFill>
                  <a:srgbClr val="00B4D8"/>
                </a:solidFill>
                <a:latin typeface="Consolas"/>
              </a:rPr>
              <a:t>startingOffsets</a:t>
            </a:r>
          </a:p>
        </p:txBody>
      </p:sp>
      <p:sp>
        <p:nvSpPr>
          <p:cNvPr id="44" name="TextBox 43"/>
          <p:cNvSpPr txBox="1"/>
          <p:nvPr/>
        </p:nvSpPr>
        <p:spPr>
          <a:xfrm>
            <a:off x="8366760" y="3621024"/>
            <a:ext cx="3337560" cy="329184"/>
          </a:xfrm>
          <a:prstGeom prst="rect">
            <a:avLst/>
          </a:prstGeom>
          <a:noFill/>
        </p:spPr>
        <p:txBody>
          <a:bodyPr wrap="square">
            <a:spAutoFit/>
          </a:bodyPr>
          <a:lstStyle/>
          <a:p>
            <a:pPr algn="l"/>
            <a:r>
              <a:rPr sz="1200" b="0" i="0">
                <a:solidFill>
                  <a:srgbClr val="B0C4CE"/>
                </a:solidFill>
                <a:latin typeface="Calibri"/>
              </a:rPr>
              <a:t>set to 'earliest' so Spark never misses a record</a:t>
            </a:r>
          </a:p>
        </p:txBody>
      </p:sp>
      <p:sp>
        <p:nvSpPr>
          <p:cNvPr id="45" name="Rectangle 44"/>
          <p:cNvSpPr/>
          <p:nvPr/>
        </p:nvSpPr>
        <p:spPr>
          <a:xfrm>
            <a:off x="6172200" y="4114800"/>
            <a:ext cx="2103120" cy="365760"/>
          </a:xfrm>
          <a:prstGeom prst="rect">
            <a:avLst/>
          </a:prstGeom>
          <a:solidFill>
            <a:srgbClr val="02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90488" y="4151376"/>
            <a:ext cx="2066543" cy="329184"/>
          </a:xfrm>
          <a:prstGeom prst="rect">
            <a:avLst/>
          </a:prstGeom>
          <a:noFill/>
        </p:spPr>
        <p:txBody>
          <a:bodyPr wrap="square">
            <a:spAutoFit/>
          </a:bodyPr>
          <a:lstStyle/>
          <a:p>
            <a:pPr algn="ctr"/>
            <a:r>
              <a:rPr sz="1200" b="1" i="0">
                <a:solidFill>
                  <a:srgbClr val="00B4D8"/>
                </a:solidFill>
                <a:latin typeface="Consolas"/>
              </a:rPr>
              <a:t>failOnDataLoss=false</a:t>
            </a:r>
          </a:p>
        </p:txBody>
      </p:sp>
      <p:sp>
        <p:nvSpPr>
          <p:cNvPr id="47" name="TextBox 46"/>
          <p:cNvSpPr txBox="1"/>
          <p:nvPr/>
        </p:nvSpPr>
        <p:spPr>
          <a:xfrm>
            <a:off x="8366760" y="4151376"/>
            <a:ext cx="3337560" cy="329184"/>
          </a:xfrm>
          <a:prstGeom prst="rect">
            <a:avLst/>
          </a:prstGeom>
          <a:noFill/>
        </p:spPr>
        <p:txBody>
          <a:bodyPr wrap="square">
            <a:spAutoFit/>
          </a:bodyPr>
          <a:lstStyle/>
          <a:p>
            <a:pPr algn="l"/>
            <a:r>
              <a:rPr sz="1200" b="0" i="0">
                <a:solidFill>
                  <a:srgbClr val="B0C4CE"/>
                </a:solidFill>
                <a:latin typeface="Calibri"/>
              </a:rPr>
              <a:t>stream continues even if a partition disappears</a:t>
            </a:r>
          </a:p>
        </p:txBody>
      </p:sp>
      <p:sp>
        <p:nvSpPr>
          <p:cNvPr id="48" name="Rectangle 47"/>
          <p:cNvSpPr/>
          <p:nvPr/>
        </p:nvSpPr>
        <p:spPr>
          <a:xfrm>
            <a:off x="6172200" y="4645152"/>
            <a:ext cx="2103120" cy="365760"/>
          </a:xfrm>
          <a:prstGeom prst="rect">
            <a:avLst/>
          </a:prstGeom>
          <a:solidFill>
            <a:srgbClr val="02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190488" y="4681728"/>
            <a:ext cx="2066543" cy="329184"/>
          </a:xfrm>
          <a:prstGeom prst="rect">
            <a:avLst/>
          </a:prstGeom>
          <a:noFill/>
        </p:spPr>
        <p:txBody>
          <a:bodyPr wrap="square">
            <a:spAutoFit/>
          </a:bodyPr>
          <a:lstStyle/>
          <a:p>
            <a:pPr algn="ctr"/>
            <a:r>
              <a:rPr sz="1200" b="1" i="0">
                <a:solidFill>
                  <a:srgbClr val="00B4D8"/>
                </a:solidFill>
                <a:latin typeface="Consolas"/>
              </a:rPr>
              <a:t>Zookeeper</a:t>
            </a:r>
          </a:p>
        </p:txBody>
      </p:sp>
      <p:sp>
        <p:nvSpPr>
          <p:cNvPr id="50" name="TextBox 49"/>
          <p:cNvSpPr txBox="1"/>
          <p:nvPr/>
        </p:nvSpPr>
        <p:spPr>
          <a:xfrm>
            <a:off x="8366760" y="4681728"/>
            <a:ext cx="3337560" cy="329184"/>
          </a:xfrm>
          <a:prstGeom prst="rect">
            <a:avLst/>
          </a:prstGeom>
          <a:noFill/>
        </p:spPr>
        <p:txBody>
          <a:bodyPr wrap="square">
            <a:spAutoFit/>
          </a:bodyPr>
          <a:lstStyle/>
          <a:p>
            <a:pPr algn="l"/>
            <a:r>
              <a:rPr sz="1200" b="0" i="0">
                <a:solidFill>
                  <a:srgbClr val="B0C4CE"/>
                </a:solidFill>
                <a:latin typeface="Calibri"/>
              </a:rPr>
              <a:t>manages broker registration and leader election</a:t>
            </a:r>
          </a:p>
        </p:txBody>
      </p:sp>
      <p:sp>
        <p:nvSpPr>
          <p:cNvPr id="51" name="Rectangle 50"/>
          <p:cNvSpPr/>
          <p:nvPr/>
        </p:nvSpPr>
        <p:spPr>
          <a:xfrm>
            <a:off x="6172200" y="5175504"/>
            <a:ext cx="2103120" cy="365760"/>
          </a:xfrm>
          <a:prstGeom prst="rect">
            <a:avLst/>
          </a:prstGeom>
          <a:solidFill>
            <a:srgbClr val="02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190488" y="5212080"/>
            <a:ext cx="2066543" cy="329184"/>
          </a:xfrm>
          <a:prstGeom prst="rect">
            <a:avLst/>
          </a:prstGeom>
          <a:noFill/>
        </p:spPr>
        <p:txBody>
          <a:bodyPr wrap="square">
            <a:spAutoFit/>
          </a:bodyPr>
          <a:lstStyle/>
          <a:p>
            <a:pPr algn="ctr"/>
            <a:r>
              <a:rPr sz="1200" b="1" i="0">
                <a:solidFill>
                  <a:srgbClr val="00B4D8"/>
                </a:solidFill>
                <a:latin typeface="Consolas"/>
              </a:rPr>
              <a:t>Kafka UI :8080</a:t>
            </a:r>
          </a:p>
        </p:txBody>
      </p:sp>
      <p:sp>
        <p:nvSpPr>
          <p:cNvPr id="53" name="TextBox 52"/>
          <p:cNvSpPr txBox="1"/>
          <p:nvPr/>
        </p:nvSpPr>
        <p:spPr>
          <a:xfrm>
            <a:off x="8366760" y="5212080"/>
            <a:ext cx="3337560" cy="329184"/>
          </a:xfrm>
          <a:prstGeom prst="rect">
            <a:avLst/>
          </a:prstGeom>
          <a:noFill/>
        </p:spPr>
        <p:txBody>
          <a:bodyPr wrap="square">
            <a:spAutoFit/>
          </a:bodyPr>
          <a:lstStyle/>
          <a:p>
            <a:pPr algn="l"/>
            <a:r>
              <a:rPr sz="1200" b="0" i="0">
                <a:solidFill>
                  <a:srgbClr val="B0C4CE"/>
                </a:solidFill>
                <a:latin typeface="Calibri"/>
              </a:rPr>
              <a:t>visualise topic, messages, consumer lag live</a:t>
            </a:r>
          </a:p>
        </p:txBody>
      </p:sp>
      <p:sp>
        <p:nvSpPr>
          <p:cNvPr id="54" name="Rectangle 53"/>
          <p:cNvSpPr/>
          <p:nvPr/>
        </p:nvSpPr>
        <p:spPr>
          <a:xfrm>
            <a:off x="320040" y="6492240"/>
            <a:ext cx="11521440" cy="256032"/>
          </a:xfrm>
          <a:prstGeom prst="rect">
            <a:avLst/>
          </a:prstGeom>
          <a:solidFill>
            <a:srgbClr val="09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57200" y="6510528"/>
            <a:ext cx="11247120" cy="219456"/>
          </a:xfrm>
          <a:prstGeom prst="rect">
            <a:avLst/>
          </a:prstGeom>
          <a:noFill/>
        </p:spPr>
        <p:txBody>
          <a:bodyPr wrap="square">
            <a:spAutoFit/>
          </a:bodyPr>
          <a:lstStyle/>
          <a:p>
            <a:pPr algn="l"/>
            <a:r>
              <a:rPr sz="1200" b="0" i="0">
                <a:solidFill>
                  <a:srgbClr val="00B4D8"/>
                </a:solidFill>
                <a:latin typeface="Consolas"/>
              </a:rPr>
              <a:t>CSV  →  parse_row()  →  producer.send('taxi-raw', JSON)  →  Kafka log  →  Spark readStream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201168"/>
            <a:ext cx="7315200" cy="320040"/>
          </a:xfrm>
          <a:prstGeom prst="rect">
            <a:avLst/>
          </a:prstGeom>
          <a:noFill/>
        </p:spPr>
        <p:txBody>
          <a:bodyPr wrap="square">
            <a:spAutoFit/>
          </a:bodyPr>
          <a:lstStyle/>
          <a:p>
            <a:pPr algn="l"/>
            <a:r>
              <a:rPr sz="1100" b="1" i="0">
                <a:solidFill>
                  <a:srgbClr val="00B4D8"/>
                </a:solidFill>
                <a:latin typeface="Calibri"/>
              </a:rPr>
              <a:t>STAGE 3 — PROCESSING</a:t>
            </a:r>
          </a:p>
        </p:txBody>
      </p:sp>
      <p:sp>
        <p:nvSpPr>
          <p:cNvPr id="5" name="TextBox 4"/>
          <p:cNvSpPr txBox="1"/>
          <p:nvPr/>
        </p:nvSpPr>
        <p:spPr>
          <a:xfrm>
            <a:off x="320040" y="530352"/>
            <a:ext cx="11521440" cy="685800"/>
          </a:xfrm>
          <a:prstGeom prst="rect">
            <a:avLst/>
          </a:prstGeom>
          <a:noFill/>
        </p:spPr>
        <p:txBody>
          <a:bodyPr wrap="square">
            <a:spAutoFit/>
          </a:bodyPr>
          <a:lstStyle/>
          <a:p>
            <a:pPr algn="l"/>
            <a:r>
              <a:rPr sz="3400" b="1" i="0">
                <a:solidFill>
                  <a:srgbClr val="FFFFFF"/>
                </a:solidFill>
                <a:latin typeface="Calibri"/>
              </a:rPr>
              <a:t>Spark Structured Streaming</a:t>
            </a:r>
          </a:p>
        </p:txBody>
      </p:sp>
      <p:sp>
        <p:nvSpPr>
          <p:cNvPr id="6" name="TextBox 5"/>
          <p:cNvSpPr txBox="1"/>
          <p:nvPr/>
        </p:nvSpPr>
        <p:spPr>
          <a:xfrm>
            <a:off x="320040" y="1389888"/>
            <a:ext cx="11521440" cy="777240"/>
          </a:xfrm>
          <a:prstGeom prst="rect">
            <a:avLst/>
          </a:prstGeom>
          <a:noFill/>
        </p:spPr>
        <p:txBody>
          <a:bodyPr wrap="square">
            <a:spAutoFit/>
          </a:bodyPr>
          <a:lstStyle/>
          <a:p>
            <a:pPr algn="l"/>
            <a:r>
              <a:rPr sz="1400" b="0" i="0">
                <a:solidFill>
                  <a:srgbClr val="E8F4F8"/>
                </a:solidFill>
                <a:latin typeface="Calibri"/>
              </a:rPr>
              <a:t>Spark subscribes to the 'taxi-raw' Kafka topic and processes messages in 30-second micro-batches. Each batch goes through three sequential transformations before being written to HDFS.</a:t>
            </a:r>
          </a:p>
        </p:txBody>
      </p:sp>
      <p:sp>
        <p:nvSpPr>
          <p:cNvPr id="7" name="Rectangle 6"/>
          <p:cNvSpPr/>
          <p:nvPr/>
        </p:nvSpPr>
        <p:spPr>
          <a:xfrm>
            <a:off x="320040" y="2331720"/>
            <a:ext cx="3639312" cy="425196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2331720"/>
            <a:ext cx="91440" cy="42519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2423160"/>
            <a:ext cx="3383280" cy="384048"/>
          </a:xfrm>
          <a:prstGeom prst="rect">
            <a:avLst/>
          </a:prstGeom>
          <a:noFill/>
        </p:spPr>
        <p:txBody>
          <a:bodyPr wrap="square">
            <a:spAutoFit/>
          </a:bodyPr>
          <a:lstStyle/>
          <a:p>
            <a:pPr algn="l"/>
            <a:r>
              <a:rPr sz="1600" b="1" i="0">
                <a:solidFill>
                  <a:srgbClr val="00B4D8"/>
                </a:solidFill>
                <a:latin typeface="Calibri"/>
              </a:rPr>
              <a:t>① Clean</a:t>
            </a:r>
          </a:p>
        </p:txBody>
      </p:sp>
      <p:sp>
        <p:nvSpPr>
          <p:cNvPr id="10" name="Rectangle 9"/>
          <p:cNvSpPr/>
          <p:nvPr/>
        </p:nvSpPr>
        <p:spPr>
          <a:xfrm>
            <a:off x="411480" y="2907792"/>
            <a:ext cx="1508760" cy="34747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9768" y="2944368"/>
            <a:ext cx="1463040" cy="301752"/>
          </a:xfrm>
          <a:prstGeom prst="rect">
            <a:avLst/>
          </a:prstGeom>
          <a:noFill/>
        </p:spPr>
        <p:txBody>
          <a:bodyPr wrap="square">
            <a:spAutoFit/>
          </a:bodyPr>
          <a:lstStyle/>
          <a:p>
            <a:pPr algn="ctr"/>
            <a:r>
              <a:rPr sz="1100" b="1" i="0">
                <a:solidFill>
                  <a:srgbClr val="FFFFFF"/>
                </a:solidFill>
                <a:latin typeface="Consolas"/>
              </a:rPr>
              <a:t>dropna()</a:t>
            </a:r>
          </a:p>
        </p:txBody>
      </p:sp>
      <p:sp>
        <p:nvSpPr>
          <p:cNvPr id="12" name="TextBox 11"/>
          <p:cNvSpPr txBox="1"/>
          <p:nvPr/>
        </p:nvSpPr>
        <p:spPr>
          <a:xfrm>
            <a:off x="1993392" y="2944368"/>
            <a:ext cx="1828800" cy="457200"/>
          </a:xfrm>
          <a:prstGeom prst="rect">
            <a:avLst/>
          </a:prstGeom>
          <a:noFill/>
        </p:spPr>
        <p:txBody>
          <a:bodyPr wrap="square">
            <a:spAutoFit/>
          </a:bodyPr>
          <a:lstStyle/>
          <a:p>
            <a:pPr algn="l"/>
            <a:r>
              <a:rPr sz="1100" b="0" i="0">
                <a:solidFill>
                  <a:srgbClr val="B0C4CE"/>
                </a:solidFill>
                <a:latin typeface="Calibri"/>
              </a:rPr>
              <a:t>drops rows missing any required field</a:t>
            </a:r>
          </a:p>
        </p:txBody>
      </p:sp>
      <p:sp>
        <p:nvSpPr>
          <p:cNvPr id="13" name="Rectangle 12"/>
          <p:cNvSpPr/>
          <p:nvPr/>
        </p:nvSpPr>
        <p:spPr>
          <a:xfrm>
            <a:off x="411480" y="3566160"/>
            <a:ext cx="1508760" cy="34747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768" y="3602736"/>
            <a:ext cx="1463040" cy="301752"/>
          </a:xfrm>
          <a:prstGeom prst="rect">
            <a:avLst/>
          </a:prstGeom>
          <a:noFill/>
        </p:spPr>
        <p:txBody>
          <a:bodyPr wrap="square">
            <a:spAutoFit/>
          </a:bodyPr>
          <a:lstStyle/>
          <a:p>
            <a:pPr algn="ctr"/>
            <a:r>
              <a:rPr sz="1100" b="1" i="0">
                <a:solidFill>
                  <a:srgbClr val="FFFFFF"/>
                </a:solidFill>
                <a:latin typeface="Consolas"/>
              </a:rPr>
              <a:t>to_timestamp()</a:t>
            </a:r>
          </a:p>
        </p:txBody>
      </p:sp>
      <p:sp>
        <p:nvSpPr>
          <p:cNvPr id="15" name="TextBox 14"/>
          <p:cNvSpPr txBox="1"/>
          <p:nvPr/>
        </p:nvSpPr>
        <p:spPr>
          <a:xfrm>
            <a:off x="1993392" y="3602736"/>
            <a:ext cx="1828800" cy="457200"/>
          </a:xfrm>
          <a:prstGeom prst="rect">
            <a:avLst/>
          </a:prstGeom>
          <a:noFill/>
        </p:spPr>
        <p:txBody>
          <a:bodyPr wrap="square">
            <a:spAutoFit/>
          </a:bodyPr>
          <a:lstStyle/>
          <a:p>
            <a:pPr algn="l"/>
            <a:r>
              <a:rPr sz="1100" b="0" i="0">
                <a:solidFill>
                  <a:srgbClr val="B0C4CE"/>
                </a:solidFill>
                <a:latin typeface="Calibri"/>
              </a:rPr>
              <a:t>casts pickup/dropoff strings to proper timestamps</a:t>
            </a:r>
          </a:p>
        </p:txBody>
      </p:sp>
      <p:sp>
        <p:nvSpPr>
          <p:cNvPr id="16" name="Rectangle 15"/>
          <p:cNvSpPr/>
          <p:nvPr/>
        </p:nvSpPr>
        <p:spPr>
          <a:xfrm>
            <a:off x="411480" y="4224528"/>
            <a:ext cx="1508760" cy="34747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9768" y="4261104"/>
            <a:ext cx="1463040" cy="301752"/>
          </a:xfrm>
          <a:prstGeom prst="rect">
            <a:avLst/>
          </a:prstGeom>
          <a:noFill/>
        </p:spPr>
        <p:txBody>
          <a:bodyPr wrap="square">
            <a:spAutoFit/>
          </a:bodyPr>
          <a:lstStyle/>
          <a:p>
            <a:pPr algn="ctr"/>
            <a:r>
              <a:rPr sz="1100" b="1" i="0">
                <a:solidFill>
                  <a:srgbClr val="FFFFFF"/>
                </a:solidFill>
                <a:latin typeface="Consolas"/>
              </a:rPr>
              <a:t>unix_timestamp()</a:t>
            </a:r>
          </a:p>
        </p:txBody>
      </p:sp>
      <p:sp>
        <p:nvSpPr>
          <p:cNvPr id="18" name="TextBox 17"/>
          <p:cNvSpPr txBox="1"/>
          <p:nvPr/>
        </p:nvSpPr>
        <p:spPr>
          <a:xfrm>
            <a:off x="1993392" y="4261104"/>
            <a:ext cx="1828800" cy="457200"/>
          </a:xfrm>
          <a:prstGeom prst="rect">
            <a:avLst/>
          </a:prstGeom>
          <a:noFill/>
        </p:spPr>
        <p:txBody>
          <a:bodyPr wrap="square">
            <a:spAutoFit/>
          </a:bodyPr>
          <a:lstStyle/>
          <a:p>
            <a:pPr algn="l"/>
            <a:r>
              <a:rPr sz="1100" b="0" i="0">
                <a:solidFill>
                  <a:srgbClr val="B0C4CE"/>
                </a:solidFill>
                <a:latin typeface="Calibri"/>
              </a:rPr>
              <a:t>computes trip_duration_min from the two timestamps</a:t>
            </a:r>
          </a:p>
        </p:txBody>
      </p:sp>
      <p:sp>
        <p:nvSpPr>
          <p:cNvPr id="19" name="Rectangle 18"/>
          <p:cNvSpPr/>
          <p:nvPr/>
        </p:nvSpPr>
        <p:spPr>
          <a:xfrm>
            <a:off x="411480" y="4882896"/>
            <a:ext cx="1508760" cy="34747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9768" y="4919472"/>
            <a:ext cx="1463040" cy="301752"/>
          </a:xfrm>
          <a:prstGeom prst="rect">
            <a:avLst/>
          </a:prstGeom>
          <a:noFill/>
        </p:spPr>
        <p:txBody>
          <a:bodyPr wrap="square">
            <a:spAutoFit/>
          </a:bodyPr>
          <a:lstStyle/>
          <a:p>
            <a:pPr algn="ctr"/>
            <a:r>
              <a:rPr sz="1100" b="1" i="0">
                <a:solidFill>
                  <a:srgbClr val="FFFFFF"/>
                </a:solidFill>
                <a:latin typeface="Consolas"/>
              </a:rPr>
              <a:t>tip/fare × 100</a:t>
            </a:r>
          </a:p>
        </p:txBody>
      </p:sp>
      <p:sp>
        <p:nvSpPr>
          <p:cNvPr id="21" name="TextBox 20"/>
          <p:cNvSpPr txBox="1"/>
          <p:nvPr/>
        </p:nvSpPr>
        <p:spPr>
          <a:xfrm>
            <a:off x="1993392" y="4919472"/>
            <a:ext cx="1828800" cy="457200"/>
          </a:xfrm>
          <a:prstGeom prst="rect">
            <a:avLst/>
          </a:prstGeom>
          <a:noFill/>
        </p:spPr>
        <p:txBody>
          <a:bodyPr wrap="square">
            <a:spAutoFit/>
          </a:bodyPr>
          <a:lstStyle/>
          <a:p>
            <a:pPr algn="l"/>
            <a:r>
              <a:rPr sz="1100" b="0" i="0">
                <a:solidFill>
                  <a:srgbClr val="B0C4CE"/>
                </a:solidFill>
                <a:latin typeface="Calibri"/>
              </a:rPr>
              <a:t>derives tip_pct as a new computed column</a:t>
            </a:r>
          </a:p>
        </p:txBody>
      </p:sp>
      <p:sp>
        <p:nvSpPr>
          <p:cNvPr id="22" name="Rectangle 21"/>
          <p:cNvSpPr/>
          <p:nvPr/>
        </p:nvSpPr>
        <p:spPr>
          <a:xfrm>
            <a:off x="411480" y="5541264"/>
            <a:ext cx="1508760" cy="34747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9768" y="5577840"/>
            <a:ext cx="1463040" cy="301752"/>
          </a:xfrm>
          <a:prstGeom prst="rect">
            <a:avLst/>
          </a:prstGeom>
          <a:noFill/>
        </p:spPr>
        <p:txBody>
          <a:bodyPr wrap="square">
            <a:spAutoFit/>
          </a:bodyPr>
          <a:lstStyle/>
          <a:p>
            <a:pPr algn="ctr"/>
            <a:r>
              <a:rPr sz="1100" b="1" i="0">
                <a:solidFill>
                  <a:srgbClr val="FFFFFF"/>
                </a:solidFill>
                <a:latin typeface="Consolas"/>
              </a:rPr>
              <a:t>Schema declared</a:t>
            </a:r>
          </a:p>
        </p:txBody>
      </p:sp>
      <p:sp>
        <p:nvSpPr>
          <p:cNvPr id="24" name="TextBox 23"/>
          <p:cNvSpPr txBox="1"/>
          <p:nvPr/>
        </p:nvSpPr>
        <p:spPr>
          <a:xfrm>
            <a:off x="1993392" y="5577840"/>
            <a:ext cx="1828800" cy="457200"/>
          </a:xfrm>
          <a:prstGeom prst="rect">
            <a:avLst/>
          </a:prstGeom>
          <a:noFill/>
        </p:spPr>
        <p:txBody>
          <a:bodyPr wrap="square">
            <a:spAutoFit/>
          </a:bodyPr>
          <a:lstStyle/>
          <a:p>
            <a:pPr algn="l"/>
            <a:r>
              <a:rPr sz="1100" b="0" i="0">
                <a:solidFill>
                  <a:srgbClr val="B0C4CE"/>
                </a:solidFill>
                <a:latin typeface="Calibri"/>
              </a:rPr>
              <a:t>no inference scan — field types set explicitly</a:t>
            </a:r>
          </a:p>
        </p:txBody>
      </p:sp>
      <p:sp>
        <p:nvSpPr>
          <p:cNvPr id="25" name="Rectangle 24"/>
          <p:cNvSpPr/>
          <p:nvPr/>
        </p:nvSpPr>
        <p:spPr>
          <a:xfrm>
            <a:off x="4142232" y="2331720"/>
            <a:ext cx="3822191" cy="425196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142232" y="2331720"/>
            <a:ext cx="91440" cy="425196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79392" y="2423160"/>
            <a:ext cx="3566160" cy="384048"/>
          </a:xfrm>
          <a:prstGeom prst="rect">
            <a:avLst/>
          </a:prstGeom>
          <a:noFill/>
        </p:spPr>
        <p:txBody>
          <a:bodyPr wrap="square">
            <a:spAutoFit/>
          </a:bodyPr>
          <a:lstStyle/>
          <a:p>
            <a:pPr algn="l"/>
            <a:r>
              <a:rPr sz="1600" b="1" i="0">
                <a:solidFill>
                  <a:srgbClr val="FF8C42"/>
                </a:solidFill>
                <a:latin typeface="Calibri"/>
              </a:rPr>
              <a:t>② Detect Anomalies</a:t>
            </a:r>
          </a:p>
        </p:txBody>
      </p:sp>
      <p:sp>
        <p:nvSpPr>
          <p:cNvPr id="28" name="TextBox 27"/>
          <p:cNvSpPr txBox="1"/>
          <p:nvPr/>
        </p:nvSpPr>
        <p:spPr>
          <a:xfrm>
            <a:off x="4279392" y="2852928"/>
            <a:ext cx="3520440" cy="594360"/>
          </a:xfrm>
          <a:prstGeom prst="rect">
            <a:avLst/>
          </a:prstGeom>
          <a:noFill/>
        </p:spPr>
        <p:txBody>
          <a:bodyPr wrap="square">
            <a:spAutoFit/>
          </a:bodyPr>
          <a:lstStyle/>
          <a:p>
            <a:pPr algn="l"/>
            <a:r>
              <a:rPr sz="1200" b="0" i="1">
                <a:solidFill>
                  <a:srgbClr val="B0C4CE"/>
                </a:solidFill>
                <a:latin typeface="Calibri"/>
              </a:rPr>
              <a:t>Records are LABELLED, not deleted.
Anomalies go to /taxi/anomalies/ for review.</a:t>
            </a:r>
          </a:p>
        </p:txBody>
      </p:sp>
      <p:sp>
        <p:nvSpPr>
          <p:cNvPr id="29" name="Rectangle 28"/>
          <p:cNvSpPr/>
          <p:nvPr/>
        </p:nvSpPr>
        <p:spPr>
          <a:xfrm>
            <a:off x="4233672" y="3520440"/>
            <a:ext cx="1645920" cy="310896"/>
          </a:xfrm>
          <a:prstGeom prst="rect">
            <a:avLst/>
          </a:prstGeom>
          <a:solidFill>
            <a:srgbClr val="2A1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51960" y="3557016"/>
            <a:ext cx="1609344" cy="256032"/>
          </a:xfrm>
          <a:prstGeom prst="rect">
            <a:avLst/>
          </a:prstGeom>
          <a:noFill/>
        </p:spPr>
        <p:txBody>
          <a:bodyPr wrap="square">
            <a:spAutoFit/>
          </a:bodyPr>
          <a:lstStyle/>
          <a:p>
            <a:pPr algn="l"/>
            <a:r>
              <a:rPr sz="1100" b="0" i="0">
                <a:solidFill>
                  <a:srgbClr val="FF8C42"/>
                </a:solidFill>
                <a:latin typeface="Consolas"/>
              </a:rPr>
              <a:t>fare &gt; $500</a:t>
            </a:r>
          </a:p>
        </p:txBody>
      </p:sp>
      <p:sp>
        <p:nvSpPr>
          <p:cNvPr id="31" name="TextBox 30"/>
          <p:cNvSpPr txBox="1"/>
          <p:nvPr/>
        </p:nvSpPr>
        <p:spPr>
          <a:xfrm>
            <a:off x="5943600" y="3557016"/>
            <a:ext cx="1920240" cy="256032"/>
          </a:xfrm>
          <a:prstGeom prst="rect">
            <a:avLst/>
          </a:prstGeom>
          <a:noFill/>
        </p:spPr>
        <p:txBody>
          <a:bodyPr wrap="square">
            <a:spAutoFit/>
          </a:bodyPr>
          <a:lstStyle/>
          <a:p>
            <a:pPr algn="l"/>
            <a:r>
              <a:rPr sz="1000" b="0" i="1">
                <a:solidFill>
                  <a:srgbClr val="B0C4CE"/>
                </a:solidFill>
                <a:latin typeface="Calibri"/>
              </a:rPr>
              <a:t>fare_too_high</a:t>
            </a:r>
          </a:p>
        </p:txBody>
      </p:sp>
      <p:sp>
        <p:nvSpPr>
          <p:cNvPr id="32" name="Rectangle 31"/>
          <p:cNvSpPr/>
          <p:nvPr/>
        </p:nvSpPr>
        <p:spPr>
          <a:xfrm>
            <a:off x="4233672" y="3895344"/>
            <a:ext cx="1645920" cy="310896"/>
          </a:xfrm>
          <a:prstGeom prst="rect">
            <a:avLst/>
          </a:prstGeom>
          <a:solidFill>
            <a:srgbClr val="2A1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51960" y="3931920"/>
            <a:ext cx="1609344" cy="256032"/>
          </a:xfrm>
          <a:prstGeom prst="rect">
            <a:avLst/>
          </a:prstGeom>
          <a:noFill/>
        </p:spPr>
        <p:txBody>
          <a:bodyPr wrap="square">
            <a:spAutoFit/>
          </a:bodyPr>
          <a:lstStyle/>
          <a:p>
            <a:pPr algn="l"/>
            <a:r>
              <a:rPr sz="1100" b="0" i="0">
                <a:solidFill>
                  <a:srgbClr val="FF8C42"/>
                </a:solidFill>
                <a:latin typeface="Consolas"/>
              </a:rPr>
              <a:t>fare ≤ $0</a:t>
            </a:r>
          </a:p>
        </p:txBody>
      </p:sp>
      <p:sp>
        <p:nvSpPr>
          <p:cNvPr id="34" name="TextBox 33"/>
          <p:cNvSpPr txBox="1"/>
          <p:nvPr/>
        </p:nvSpPr>
        <p:spPr>
          <a:xfrm>
            <a:off x="5943600" y="3931920"/>
            <a:ext cx="1920240" cy="256032"/>
          </a:xfrm>
          <a:prstGeom prst="rect">
            <a:avLst/>
          </a:prstGeom>
          <a:noFill/>
        </p:spPr>
        <p:txBody>
          <a:bodyPr wrap="square">
            <a:spAutoFit/>
          </a:bodyPr>
          <a:lstStyle/>
          <a:p>
            <a:pPr algn="l"/>
            <a:r>
              <a:rPr sz="1000" b="0" i="1">
                <a:solidFill>
                  <a:srgbClr val="B0C4CE"/>
                </a:solidFill>
                <a:latin typeface="Calibri"/>
              </a:rPr>
              <a:t>fare_zero_or_negative</a:t>
            </a:r>
          </a:p>
        </p:txBody>
      </p:sp>
      <p:sp>
        <p:nvSpPr>
          <p:cNvPr id="35" name="Rectangle 34"/>
          <p:cNvSpPr/>
          <p:nvPr/>
        </p:nvSpPr>
        <p:spPr>
          <a:xfrm>
            <a:off x="4233672" y="4270248"/>
            <a:ext cx="1645920" cy="310896"/>
          </a:xfrm>
          <a:prstGeom prst="rect">
            <a:avLst/>
          </a:prstGeom>
          <a:solidFill>
            <a:srgbClr val="2A1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51960" y="4306824"/>
            <a:ext cx="1609344" cy="256032"/>
          </a:xfrm>
          <a:prstGeom prst="rect">
            <a:avLst/>
          </a:prstGeom>
          <a:noFill/>
        </p:spPr>
        <p:txBody>
          <a:bodyPr wrap="square">
            <a:spAutoFit/>
          </a:bodyPr>
          <a:lstStyle/>
          <a:p>
            <a:pPr algn="l"/>
            <a:r>
              <a:rPr sz="1100" b="0" i="0">
                <a:solidFill>
                  <a:srgbClr val="FF8C42"/>
                </a:solidFill>
                <a:latin typeface="Consolas"/>
              </a:rPr>
              <a:t>distance &gt; 100 mi</a:t>
            </a:r>
          </a:p>
        </p:txBody>
      </p:sp>
      <p:sp>
        <p:nvSpPr>
          <p:cNvPr id="37" name="TextBox 36"/>
          <p:cNvSpPr txBox="1"/>
          <p:nvPr/>
        </p:nvSpPr>
        <p:spPr>
          <a:xfrm>
            <a:off x="5943600" y="4306824"/>
            <a:ext cx="1920240" cy="256032"/>
          </a:xfrm>
          <a:prstGeom prst="rect">
            <a:avLst/>
          </a:prstGeom>
          <a:noFill/>
        </p:spPr>
        <p:txBody>
          <a:bodyPr wrap="square">
            <a:spAutoFit/>
          </a:bodyPr>
          <a:lstStyle/>
          <a:p>
            <a:pPr algn="l"/>
            <a:r>
              <a:rPr sz="1000" b="0" i="1">
                <a:solidFill>
                  <a:srgbClr val="B0C4CE"/>
                </a:solidFill>
                <a:latin typeface="Calibri"/>
              </a:rPr>
              <a:t>distance_too_high</a:t>
            </a:r>
          </a:p>
        </p:txBody>
      </p:sp>
      <p:sp>
        <p:nvSpPr>
          <p:cNvPr id="38" name="Rectangle 37"/>
          <p:cNvSpPr/>
          <p:nvPr/>
        </p:nvSpPr>
        <p:spPr>
          <a:xfrm>
            <a:off x="4233672" y="4645152"/>
            <a:ext cx="1645920" cy="310896"/>
          </a:xfrm>
          <a:prstGeom prst="rect">
            <a:avLst/>
          </a:prstGeom>
          <a:solidFill>
            <a:srgbClr val="2A1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51960" y="4681728"/>
            <a:ext cx="1609344" cy="256032"/>
          </a:xfrm>
          <a:prstGeom prst="rect">
            <a:avLst/>
          </a:prstGeom>
          <a:noFill/>
        </p:spPr>
        <p:txBody>
          <a:bodyPr wrap="square">
            <a:spAutoFit/>
          </a:bodyPr>
          <a:lstStyle/>
          <a:p>
            <a:pPr algn="l"/>
            <a:r>
              <a:rPr sz="1100" b="0" i="0">
                <a:solidFill>
                  <a:srgbClr val="FF8C42"/>
                </a:solidFill>
                <a:latin typeface="Consolas"/>
              </a:rPr>
              <a:t>distance ≤ 0</a:t>
            </a:r>
          </a:p>
        </p:txBody>
      </p:sp>
      <p:sp>
        <p:nvSpPr>
          <p:cNvPr id="40" name="TextBox 39"/>
          <p:cNvSpPr txBox="1"/>
          <p:nvPr/>
        </p:nvSpPr>
        <p:spPr>
          <a:xfrm>
            <a:off x="5943600" y="4681728"/>
            <a:ext cx="1920240" cy="256032"/>
          </a:xfrm>
          <a:prstGeom prst="rect">
            <a:avLst/>
          </a:prstGeom>
          <a:noFill/>
        </p:spPr>
        <p:txBody>
          <a:bodyPr wrap="square">
            <a:spAutoFit/>
          </a:bodyPr>
          <a:lstStyle/>
          <a:p>
            <a:pPr algn="l"/>
            <a:r>
              <a:rPr sz="1000" b="0" i="1">
                <a:solidFill>
                  <a:srgbClr val="B0C4CE"/>
                </a:solidFill>
                <a:latin typeface="Calibri"/>
              </a:rPr>
              <a:t>distance_zero_or_negative</a:t>
            </a:r>
          </a:p>
        </p:txBody>
      </p:sp>
      <p:sp>
        <p:nvSpPr>
          <p:cNvPr id="41" name="Rectangle 40"/>
          <p:cNvSpPr/>
          <p:nvPr/>
        </p:nvSpPr>
        <p:spPr>
          <a:xfrm>
            <a:off x="4233672" y="5020056"/>
            <a:ext cx="1645920" cy="310896"/>
          </a:xfrm>
          <a:prstGeom prst="rect">
            <a:avLst/>
          </a:prstGeom>
          <a:solidFill>
            <a:srgbClr val="2A1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51960" y="5056632"/>
            <a:ext cx="1609344" cy="256032"/>
          </a:xfrm>
          <a:prstGeom prst="rect">
            <a:avLst/>
          </a:prstGeom>
          <a:noFill/>
        </p:spPr>
        <p:txBody>
          <a:bodyPr wrap="square">
            <a:spAutoFit/>
          </a:bodyPr>
          <a:lstStyle/>
          <a:p>
            <a:pPr algn="l"/>
            <a:r>
              <a:rPr sz="1100" b="0" i="0">
                <a:solidFill>
                  <a:srgbClr val="FF8C42"/>
                </a:solidFill>
                <a:latin typeface="Consolas"/>
              </a:rPr>
              <a:t>passengers &gt; 6</a:t>
            </a:r>
          </a:p>
        </p:txBody>
      </p:sp>
      <p:sp>
        <p:nvSpPr>
          <p:cNvPr id="43" name="TextBox 42"/>
          <p:cNvSpPr txBox="1"/>
          <p:nvPr/>
        </p:nvSpPr>
        <p:spPr>
          <a:xfrm>
            <a:off x="5943600" y="5056632"/>
            <a:ext cx="1920240" cy="256032"/>
          </a:xfrm>
          <a:prstGeom prst="rect">
            <a:avLst/>
          </a:prstGeom>
          <a:noFill/>
        </p:spPr>
        <p:txBody>
          <a:bodyPr wrap="square">
            <a:spAutoFit/>
          </a:bodyPr>
          <a:lstStyle/>
          <a:p>
            <a:pPr algn="l"/>
            <a:r>
              <a:rPr sz="1000" b="0" i="1">
                <a:solidFill>
                  <a:srgbClr val="B0C4CE"/>
                </a:solidFill>
                <a:latin typeface="Calibri"/>
              </a:rPr>
              <a:t>too_many_passengers</a:t>
            </a:r>
          </a:p>
        </p:txBody>
      </p:sp>
      <p:sp>
        <p:nvSpPr>
          <p:cNvPr id="44" name="Rectangle 43"/>
          <p:cNvSpPr/>
          <p:nvPr/>
        </p:nvSpPr>
        <p:spPr>
          <a:xfrm>
            <a:off x="4233672" y="5394960"/>
            <a:ext cx="1645920" cy="310896"/>
          </a:xfrm>
          <a:prstGeom prst="rect">
            <a:avLst/>
          </a:prstGeom>
          <a:solidFill>
            <a:srgbClr val="2A1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251960" y="5431536"/>
            <a:ext cx="1609344" cy="256032"/>
          </a:xfrm>
          <a:prstGeom prst="rect">
            <a:avLst/>
          </a:prstGeom>
          <a:noFill/>
        </p:spPr>
        <p:txBody>
          <a:bodyPr wrap="square">
            <a:spAutoFit/>
          </a:bodyPr>
          <a:lstStyle/>
          <a:p>
            <a:pPr algn="l"/>
            <a:r>
              <a:rPr sz="1100" b="0" i="0">
                <a:solidFill>
                  <a:srgbClr val="FF8C42"/>
                </a:solidFill>
                <a:latin typeface="Consolas"/>
              </a:rPr>
              <a:t>passengers ≤ 0</a:t>
            </a:r>
          </a:p>
        </p:txBody>
      </p:sp>
      <p:sp>
        <p:nvSpPr>
          <p:cNvPr id="46" name="TextBox 45"/>
          <p:cNvSpPr txBox="1"/>
          <p:nvPr/>
        </p:nvSpPr>
        <p:spPr>
          <a:xfrm>
            <a:off x="5943600" y="5431536"/>
            <a:ext cx="1920240" cy="256032"/>
          </a:xfrm>
          <a:prstGeom prst="rect">
            <a:avLst/>
          </a:prstGeom>
          <a:noFill/>
        </p:spPr>
        <p:txBody>
          <a:bodyPr wrap="square">
            <a:spAutoFit/>
          </a:bodyPr>
          <a:lstStyle/>
          <a:p>
            <a:pPr algn="l"/>
            <a:r>
              <a:rPr sz="1000" b="0" i="1">
                <a:solidFill>
                  <a:srgbClr val="B0C4CE"/>
                </a:solidFill>
                <a:latin typeface="Calibri"/>
              </a:rPr>
              <a:t>no_passengers</a:t>
            </a:r>
          </a:p>
        </p:txBody>
      </p:sp>
      <p:sp>
        <p:nvSpPr>
          <p:cNvPr id="47" name="Rectangle 46"/>
          <p:cNvSpPr/>
          <p:nvPr/>
        </p:nvSpPr>
        <p:spPr>
          <a:xfrm>
            <a:off x="4233672" y="5769864"/>
            <a:ext cx="1645920" cy="310896"/>
          </a:xfrm>
          <a:prstGeom prst="rect">
            <a:avLst/>
          </a:prstGeom>
          <a:solidFill>
            <a:srgbClr val="2A1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251960" y="5806440"/>
            <a:ext cx="1609344" cy="256032"/>
          </a:xfrm>
          <a:prstGeom prst="rect">
            <a:avLst/>
          </a:prstGeom>
          <a:noFill/>
        </p:spPr>
        <p:txBody>
          <a:bodyPr wrap="square">
            <a:spAutoFit/>
          </a:bodyPr>
          <a:lstStyle/>
          <a:p>
            <a:pPr algn="l"/>
            <a:r>
              <a:rPr sz="1100" b="0" i="0">
                <a:solidFill>
                  <a:srgbClr val="FF8C42"/>
                </a:solidFill>
                <a:latin typeface="Consolas"/>
              </a:rPr>
              <a:t>duration &gt; 180 min</a:t>
            </a:r>
          </a:p>
        </p:txBody>
      </p:sp>
      <p:sp>
        <p:nvSpPr>
          <p:cNvPr id="49" name="TextBox 48"/>
          <p:cNvSpPr txBox="1"/>
          <p:nvPr/>
        </p:nvSpPr>
        <p:spPr>
          <a:xfrm>
            <a:off x="5943600" y="5806440"/>
            <a:ext cx="1920240" cy="256032"/>
          </a:xfrm>
          <a:prstGeom prst="rect">
            <a:avLst/>
          </a:prstGeom>
          <a:noFill/>
        </p:spPr>
        <p:txBody>
          <a:bodyPr wrap="square">
            <a:spAutoFit/>
          </a:bodyPr>
          <a:lstStyle/>
          <a:p>
            <a:pPr algn="l"/>
            <a:r>
              <a:rPr sz="1000" b="0" i="1">
                <a:solidFill>
                  <a:srgbClr val="B0C4CE"/>
                </a:solidFill>
                <a:latin typeface="Calibri"/>
              </a:rPr>
              <a:t>duration_too_long</a:t>
            </a:r>
          </a:p>
        </p:txBody>
      </p:sp>
      <p:sp>
        <p:nvSpPr>
          <p:cNvPr id="50" name="Rectangle 49"/>
          <p:cNvSpPr/>
          <p:nvPr/>
        </p:nvSpPr>
        <p:spPr>
          <a:xfrm>
            <a:off x="4233672" y="6144768"/>
            <a:ext cx="1645920" cy="310896"/>
          </a:xfrm>
          <a:prstGeom prst="rect">
            <a:avLst/>
          </a:prstGeom>
          <a:solidFill>
            <a:srgbClr val="2A1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251960" y="6181344"/>
            <a:ext cx="1609344" cy="256032"/>
          </a:xfrm>
          <a:prstGeom prst="rect">
            <a:avLst/>
          </a:prstGeom>
          <a:noFill/>
        </p:spPr>
        <p:txBody>
          <a:bodyPr wrap="square">
            <a:spAutoFit/>
          </a:bodyPr>
          <a:lstStyle/>
          <a:p>
            <a:pPr algn="l"/>
            <a:r>
              <a:rPr sz="1100" b="0" i="0">
                <a:solidFill>
                  <a:srgbClr val="FF8C42"/>
                </a:solidFill>
                <a:latin typeface="Consolas"/>
              </a:rPr>
              <a:t>duration &lt; 1 min</a:t>
            </a:r>
          </a:p>
        </p:txBody>
      </p:sp>
      <p:sp>
        <p:nvSpPr>
          <p:cNvPr id="52" name="TextBox 51"/>
          <p:cNvSpPr txBox="1"/>
          <p:nvPr/>
        </p:nvSpPr>
        <p:spPr>
          <a:xfrm>
            <a:off x="5943600" y="6181344"/>
            <a:ext cx="1920240" cy="256032"/>
          </a:xfrm>
          <a:prstGeom prst="rect">
            <a:avLst/>
          </a:prstGeom>
          <a:noFill/>
        </p:spPr>
        <p:txBody>
          <a:bodyPr wrap="square">
            <a:spAutoFit/>
          </a:bodyPr>
          <a:lstStyle/>
          <a:p>
            <a:pPr algn="l"/>
            <a:r>
              <a:rPr sz="1000" b="0" i="1">
                <a:solidFill>
                  <a:srgbClr val="B0C4CE"/>
                </a:solidFill>
                <a:latin typeface="Calibri"/>
              </a:rPr>
              <a:t>duration_too_short</a:t>
            </a:r>
          </a:p>
        </p:txBody>
      </p:sp>
      <p:sp>
        <p:nvSpPr>
          <p:cNvPr id="53" name="Rectangle 52"/>
          <p:cNvSpPr/>
          <p:nvPr/>
        </p:nvSpPr>
        <p:spPr>
          <a:xfrm>
            <a:off x="8147304" y="2331720"/>
            <a:ext cx="3721608" cy="425196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147304" y="2331720"/>
            <a:ext cx="91440" cy="42519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284464" y="2423160"/>
            <a:ext cx="3474720" cy="384048"/>
          </a:xfrm>
          <a:prstGeom prst="rect">
            <a:avLst/>
          </a:prstGeom>
          <a:noFill/>
        </p:spPr>
        <p:txBody>
          <a:bodyPr wrap="square">
            <a:spAutoFit/>
          </a:bodyPr>
          <a:lstStyle/>
          <a:p>
            <a:pPr algn="l"/>
            <a:r>
              <a:rPr sz="1600" b="1" i="0">
                <a:solidFill>
                  <a:srgbClr val="00B4D8"/>
                </a:solidFill>
                <a:latin typeface="Calibri"/>
              </a:rPr>
              <a:t>③ Zone Join</a:t>
            </a:r>
          </a:p>
        </p:txBody>
      </p:sp>
      <p:sp>
        <p:nvSpPr>
          <p:cNvPr id="56" name="TextBox 55"/>
          <p:cNvSpPr txBox="1"/>
          <p:nvPr/>
        </p:nvSpPr>
        <p:spPr>
          <a:xfrm>
            <a:off x="8284464" y="2852928"/>
            <a:ext cx="3429000" cy="658368"/>
          </a:xfrm>
          <a:prstGeom prst="rect">
            <a:avLst/>
          </a:prstGeom>
          <a:noFill/>
        </p:spPr>
        <p:txBody>
          <a:bodyPr wrap="square">
            <a:spAutoFit/>
          </a:bodyPr>
          <a:lstStyle/>
          <a:p>
            <a:pPr algn="l"/>
            <a:r>
              <a:rPr sz="1200" b="0" i="1">
                <a:solidFill>
                  <a:srgbClr val="B0C4CE"/>
                </a:solidFill>
                <a:latin typeface="Calibri"/>
              </a:rPr>
              <a:t>Broadcast join — zone table sent
to every Spark worker node.
No network shuffle of the stream.</a:t>
            </a:r>
          </a:p>
        </p:txBody>
      </p:sp>
      <p:sp>
        <p:nvSpPr>
          <p:cNvPr id="57" name="Rectangle 56"/>
          <p:cNvSpPr/>
          <p:nvPr/>
        </p:nvSpPr>
        <p:spPr>
          <a:xfrm>
            <a:off x="8238744" y="3584448"/>
            <a:ext cx="2148840" cy="34747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257031" y="3621024"/>
            <a:ext cx="2103120" cy="301752"/>
          </a:xfrm>
          <a:prstGeom prst="rect">
            <a:avLst/>
          </a:prstGeom>
          <a:noFill/>
        </p:spPr>
        <p:txBody>
          <a:bodyPr wrap="square">
            <a:spAutoFit/>
          </a:bodyPr>
          <a:lstStyle/>
          <a:p>
            <a:pPr algn="ctr"/>
            <a:r>
              <a:rPr sz="1000" b="1" i="0">
                <a:solidFill>
                  <a:srgbClr val="FFFFFF"/>
                </a:solidFill>
                <a:latin typeface="Consolas"/>
              </a:rPr>
              <a:t>F.broadcast(zone_df)</a:t>
            </a:r>
          </a:p>
        </p:txBody>
      </p:sp>
      <p:sp>
        <p:nvSpPr>
          <p:cNvPr id="59" name="TextBox 58"/>
          <p:cNvSpPr txBox="1"/>
          <p:nvPr/>
        </p:nvSpPr>
        <p:spPr>
          <a:xfrm>
            <a:off x="10451592" y="3621024"/>
            <a:ext cx="1371600" cy="457200"/>
          </a:xfrm>
          <a:prstGeom prst="rect">
            <a:avLst/>
          </a:prstGeom>
          <a:noFill/>
        </p:spPr>
        <p:txBody>
          <a:bodyPr wrap="square">
            <a:spAutoFit/>
          </a:bodyPr>
          <a:lstStyle/>
          <a:p>
            <a:pPr algn="l"/>
            <a:r>
              <a:rPr sz="1100" b="0" i="0">
                <a:solidFill>
                  <a:srgbClr val="B0C4CE"/>
                </a:solidFill>
                <a:latin typeface="Calibri"/>
              </a:rPr>
              <a:t>hints Spark to replicate small table</a:t>
            </a:r>
          </a:p>
        </p:txBody>
      </p:sp>
      <p:sp>
        <p:nvSpPr>
          <p:cNvPr id="60" name="Rectangle 59"/>
          <p:cNvSpPr/>
          <p:nvPr/>
        </p:nvSpPr>
        <p:spPr>
          <a:xfrm>
            <a:off x="8238744" y="4242816"/>
            <a:ext cx="2148840" cy="34747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57031" y="4279392"/>
            <a:ext cx="2103120" cy="301752"/>
          </a:xfrm>
          <a:prstGeom prst="rect">
            <a:avLst/>
          </a:prstGeom>
          <a:noFill/>
        </p:spPr>
        <p:txBody>
          <a:bodyPr wrap="square">
            <a:spAutoFit/>
          </a:bodyPr>
          <a:lstStyle/>
          <a:p>
            <a:pPr algn="ctr"/>
            <a:r>
              <a:rPr sz="1000" b="1" i="0">
                <a:solidFill>
                  <a:srgbClr val="FFFFFF"/>
                </a:solidFill>
                <a:latin typeface="Consolas"/>
              </a:rPr>
              <a:t>join on pu_location_id</a:t>
            </a:r>
          </a:p>
        </p:txBody>
      </p:sp>
      <p:sp>
        <p:nvSpPr>
          <p:cNvPr id="62" name="TextBox 61"/>
          <p:cNvSpPr txBox="1"/>
          <p:nvPr/>
        </p:nvSpPr>
        <p:spPr>
          <a:xfrm>
            <a:off x="10451592" y="4279392"/>
            <a:ext cx="1371600" cy="457200"/>
          </a:xfrm>
          <a:prstGeom prst="rect">
            <a:avLst/>
          </a:prstGeom>
          <a:noFill/>
        </p:spPr>
        <p:txBody>
          <a:bodyPr wrap="square">
            <a:spAutoFit/>
          </a:bodyPr>
          <a:lstStyle/>
          <a:p>
            <a:pPr algn="l"/>
            <a:r>
              <a:rPr sz="1100" b="0" i="0">
                <a:solidFill>
                  <a:srgbClr val="B0C4CE"/>
                </a:solidFill>
                <a:latin typeface="Calibri"/>
              </a:rPr>
              <a:t>adds pu_borough, pu_zone</a:t>
            </a:r>
          </a:p>
        </p:txBody>
      </p:sp>
      <p:sp>
        <p:nvSpPr>
          <p:cNvPr id="63" name="Rectangle 62"/>
          <p:cNvSpPr/>
          <p:nvPr/>
        </p:nvSpPr>
        <p:spPr>
          <a:xfrm>
            <a:off x="8238744" y="4901183"/>
            <a:ext cx="2148840" cy="34747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257031" y="4937759"/>
            <a:ext cx="2103120" cy="301752"/>
          </a:xfrm>
          <a:prstGeom prst="rect">
            <a:avLst/>
          </a:prstGeom>
          <a:noFill/>
        </p:spPr>
        <p:txBody>
          <a:bodyPr wrap="square">
            <a:spAutoFit/>
          </a:bodyPr>
          <a:lstStyle/>
          <a:p>
            <a:pPr algn="ctr"/>
            <a:r>
              <a:rPr sz="1000" b="1" i="0">
                <a:solidFill>
                  <a:srgbClr val="FFFFFF"/>
                </a:solidFill>
                <a:latin typeface="Consolas"/>
              </a:rPr>
              <a:t>join on do_location_id</a:t>
            </a:r>
          </a:p>
        </p:txBody>
      </p:sp>
      <p:sp>
        <p:nvSpPr>
          <p:cNvPr id="65" name="TextBox 64"/>
          <p:cNvSpPr txBox="1"/>
          <p:nvPr/>
        </p:nvSpPr>
        <p:spPr>
          <a:xfrm>
            <a:off x="10451592" y="4937759"/>
            <a:ext cx="1371600" cy="457200"/>
          </a:xfrm>
          <a:prstGeom prst="rect">
            <a:avLst/>
          </a:prstGeom>
          <a:noFill/>
        </p:spPr>
        <p:txBody>
          <a:bodyPr wrap="square">
            <a:spAutoFit/>
          </a:bodyPr>
          <a:lstStyle/>
          <a:p>
            <a:pPr algn="l"/>
            <a:r>
              <a:rPr sz="1100" b="0" i="0">
                <a:solidFill>
                  <a:srgbClr val="B0C4CE"/>
                </a:solidFill>
                <a:latin typeface="Calibri"/>
              </a:rPr>
              <a:t>adds do_borough, do_zone</a:t>
            </a:r>
          </a:p>
        </p:txBody>
      </p:sp>
      <p:sp>
        <p:nvSpPr>
          <p:cNvPr id="66" name="Rectangle 65"/>
          <p:cNvSpPr/>
          <p:nvPr/>
        </p:nvSpPr>
        <p:spPr>
          <a:xfrm>
            <a:off x="8238744" y="5559552"/>
            <a:ext cx="2148840" cy="34747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257031" y="5596128"/>
            <a:ext cx="2103120" cy="301752"/>
          </a:xfrm>
          <a:prstGeom prst="rect">
            <a:avLst/>
          </a:prstGeom>
          <a:noFill/>
        </p:spPr>
        <p:txBody>
          <a:bodyPr wrap="square">
            <a:spAutoFit/>
          </a:bodyPr>
          <a:lstStyle/>
          <a:p>
            <a:pPr algn="ctr"/>
            <a:r>
              <a:rPr sz="1000" b="1" i="0">
                <a:solidFill>
                  <a:srgbClr val="FFFFFF"/>
                </a:solidFill>
                <a:latin typeface="Consolas"/>
              </a:rPr>
              <a:t>left join</a:t>
            </a:r>
          </a:p>
        </p:txBody>
      </p:sp>
      <p:sp>
        <p:nvSpPr>
          <p:cNvPr id="68" name="TextBox 67"/>
          <p:cNvSpPr txBox="1"/>
          <p:nvPr/>
        </p:nvSpPr>
        <p:spPr>
          <a:xfrm>
            <a:off x="10451592" y="5596128"/>
            <a:ext cx="1371600" cy="457200"/>
          </a:xfrm>
          <a:prstGeom prst="rect">
            <a:avLst/>
          </a:prstGeom>
          <a:noFill/>
        </p:spPr>
        <p:txBody>
          <a:bodyPr wrap="square">
            <a:spAutoFit/>
          </a:bodyPr>
          <a:lstStyle/>
          <a:p>
            <a:pPr algn="l"/>
            <a:r>
              <a:rPr sz="1100" b="0" i="0">
                <a:solidFill>
                  <a:srgbClr val="B0C4CE"/>
                </a:solidFill>
                <a:latin typeface="Calibri"/>
              </a:rPr>
              <a:t>keeps trips even if zone ID unknown</a:t>
            </a:r>
          </a:p>
        </p:txBody>
      </p:sp>
      <p:sp>
        <p:nvSpPr>
          <p:cNvPr id="69" name="Rectangle 68"/>
          <p:cNvSpPr/>
          <p:nvPr/>
        </p:nvSpPr>
        <p:spPr>
          <a:xfrm>
            <a:off x="8238744" y="6217920"/>
            <a:ext cx="2148840" cy="34747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257031" y="6254496"/>
            <a:ext cx="2103120" cy="301752"/>
          </a:xfrm>
          <a:prstGeom prst="rect">
            <a:avLst/>
          </a:prstGeom>
          <a:noFill/>
        </p:spPr>
        <p:txBody>
          <a:bodyPr wrap="square">
            <a:spAutoFit/>
          </a:bodyPr>
          <a:lstStyle/>
          <a:p>
            <a:pPr algn="ctr"/>
            <a:r>
              <a:rPr sz="1000" b="1" i="0">
                <a:solidFill>
                  <a:srgbClr val="FFFFFF"/>
                </a:solidFill>
                <a:latin typeface="Consolas"/>
              </a:rPr>
              <a:t>Output: /taxi/joined/</a:t>
            </a:r>
          </a:p>
        </p:txBody>
      </p:sp>
      <p:sp>
        <p:nvSpPr>
          <p:cNvPr id="71" name="TextBox 70"/>
          <p:cNvSpPr txBox="1"/>
          <p:nvPr/>
        </p:nvSpPr>
        <p:spPr>
          <a:xfrm>
            <a:off x="10451592" y="6254496"/>
            <a:ext cx="1371600" cy="457200"/>
          </a:xfrm>
          <a:prstGeom prst="rect">
            <a:avLst/>
          </a:prstGeom>
          <a:noFill/>
        </p:spPr>
        <p:txBody>
          <a:bodyPr wrap="square">
            <a:spAutoFit/>
          </a:bodyPr>
          <a:lstStyle/>
          <a:p>
            <a:pPr algn="l"/>
            <a:r>
              <a:rPr sz="1100" b="0" i="0">
                <a:solidFill>
                  <a:srgbClr val="B0C4CE"/>
                </a:solidFill>
                <a:latin typeface="Calibri"/>
              </a:rPr>
              <a:t>used as MapReduce input</a:t>
            </a:r>
          </a:p>
        </p:txBody>
      </p:sp>
      <p:sp>
        <p:nvSpPr>
          <p:cNvPr id="72" name="TextBox 71"/>
          <p:cNvSpPr txBox="1"/>
          <p:nvPr/>
        </p:nvSpPr>
        <p:spPr>
          <a:xfrm>
            <a:off x="320040" y="6601968"/>
            <a:ext cx="11521440" cy="237744"/>
          </a:xfrm>
          <a:prstGeom prst="rect">
            <a:avLst/>
          </a:prstGeom>
          <a:noFill/>
        </p:spPr>
        <p:txBody>
          <a:bodyPr wrap="square">
            <a:spAutoFit/>
          </a:bodyPr>
          <a:lstStyle/>
          <a:p>
            <a:pPr algn="l"/>
            <a:r>
              <a:rPr sz="1200" b="0" i="0">
                <a:solidFill>
                  <a:srgbClr val="00B4D8"/>
                </a:solidFill>
                <a:latin typeface="Consolas"/>
              </a:rPr>
              <a:t>→ HDFS  /taxi/clean/  ·  /taxi/joined/  ·  /taxi/anomalies/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201168"/>
            <a:ext cx="7315200" cy="320040"/>
          </a:xfrm>
          <a:prstGeom prst="rect">
            <a:avLst/>
          </a:prstGeom>
          <a:noFill/>
        </p:spPr>
        <p:txBody>
          <a:bodyPr wrap="square">
            <a:spAutoFit/>
          </a:bodyPr>
          <a:lstStyle/>
          <a:p>
            <a:pPr algn="l"/>
            <a:r>
              <a:rPr sz="1100" b="1" i="0">
                <a:solidFill>
                  <a:srgbClr val="00B4D8"/>
                </a:solidFill>
                <a:latin typeface="Calibri"/>
              </a:rPr>
              <a:t>STAGE 4 — STORAGE</a:t>
            </a:r>
          </a:p>
        </p:txBody>
      </p:sp>
      <p:sp>
        <p:nvSpPr>
          <p:cNvPr id="5" name="TextBox 4"/>
          <p:cNvSpPr txBox="1"/>
          <p:nvPr/>
        </p:nvSpPr>
        <p:spPr>
          <a:xfrm>
            <a:off x="320040" y="530352"/>
            <a:ext cx="11521440" cy="685800"/>
          </a:xfrm>
          <a:prstGeom prst="rect">
            <a:avLst/>
          </a:prstGeom>
          <a:noFill/>
        </p:spPr>
        <p:txBody>
          <a:bodyPr wrap="square">
            <a:spAutoFit/>
          </a:bodyPr>
          <a:lstStyle/>
          <a:p>
            <a:pPr algn="l"/>
            <a:r>
              <a:rPr sz="3400" b="1" i="0">
                <a:solidFill>
                  <a:srgbClr val="FFFFFF"/>
                </a:solidFill>
                <a:latin typeface="Calibri"/>
              </a:rPr>
              <a:t>HDFS — What Gets Stored and Why</a:t>
            </a:r>
          </a:p>
        </p:txBody>
      </p:sp>
      <p:sp>
        <p:nvSpPr>
          <p:cNvPr id="6" name="TextBox 5"/>
          <p:cNvSpPr txBox="1"/>
          <p:nvPr/>
        </p:nvSpPr>
        <p:spPr>
          <a:xfrm>
            <a:off x="320040" y="1389888"/>
            <a:ext cx="11521440" cy="868680"/>
          </a:xfrm>
          <a:prstGeom prst="rect">
            <a:avLst/>
          </a:prstGeom>
          <a:noFill/>
        </p:spPr>
        <p:txBody>
          <a:bodyPr wrap="square">
            <a:spAutoFit/>
          </a:bodyPr>
          <a:lstStyle/>
          <a:p>
            <a:pPr algn="l"/>
            <a:r>
              <a:rPr sz="1400" b="0" i="0">
                <a:solidFill>
                  <a:srgbClr val="E8F4F8"/>
                </a:solidFill>
                <a:latin typeface="Calibri"/>
              </a:rPr>
              <a:t>Spark writes output as Parquet files to HDFS in append mode. Each 30-second micro-batch produces a new set of part files. HDFS provides the distributed, fault-tolerant storage that MapReduce reads from.</a:t>
            </a:r>
          </a:p>
        </p:txBody>
      </p:sp>
      <p:sp>
        <p:nvSpPr>
          <p:cNvPr id="7" name="Rectangle 6"/>
          <p:cNvSpPr/>
          <p:nvPr/>
        </p:nvSpPr>
        <p:spPr>
          <a:xfrm>
            <a:off x="320040" y="2423160"/>
            <a:ext cx="3749039" cy="306324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2423160"/>
            <a:ext cx="91440" cy="30632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1207" y="2514600"/>
            <a:ext cx="3474720" cy="438912"/>
          </a:xfrm>
          <a:prstGeom prst="rect">
            <a:avLst/>
          </a:prstGeom>
          <a:noFill/>
        </p:spPr>
        <p:txBody>
          <a:bodyPr wrap="square">
            <a:spAutoFit/>
          </a:bodyPr>
          <a:lstStyle/>
          <a:p>
            <a:pPr algn="l"/>
            <a:r>
              <a:rPr sz="1600" b="1" i="0">
                <a:solidFill>
                  <a:srgbClr val="00B4D8"/>
                </a:solidFill>
                <a:latin typeface="Consolas"/>
              </a:rPr>
              <a:t>/taxi/clean/</a:t>
            </a:r>
          </a:p>
        </p:txBody>
      </p:sp>
      <p:sp>
        <p:nvSpPr>
          <p:cNvPr id="10" name="TextBox 9"/>
          <p:cNvSpPr txBox="1"/>
          <p:nvPr/>
        </p:nvSpPr>
        <p:spPr>
          <a:xfrm>
            <a:off x="521207" y="3017520"/>
            <a:ext cx="3429000" cy="2331720"/>
          </a:xfrm>
          <a:prstGeom prst="rect">
            <a:avLst/>
          </a:prstGeom>
          <a:noFill/>
        </p:spPr>
        <p:txBody>
          <a:bodyPr wrap="square">
            <a:spAutoFit/>
          </a:bodyPr>
          <a:lstStyle/>
          <a:p>
            <a:pPr algn="l"/>
            <a:r>
              <a:rPr sz="1300" b="0" i="0">
                <a:solidFill>
                  <a:srgbClr val="B0C4CE"/>
                </a:solidFill>
                <a:latin typeface="Calibri"/>
              </a:rPr>
              <a:t>Clean trip records — no zone enrichment.
Useful as a fast-path backup without the join overhead. Same schema as the stream with computed fields (duration, tip_pct) added.</a:t>
            </a:r>
          </a:p>
        </p:txBody>
      </p:sp>
      <p:sp>
        <p:nvSpPr>
          <p:cNvPr id="11" name="Rectangle 10"/>
          <p:cNvSpPr/>
          <p:nvPr/>
        </p:nvSpPr>
        <p:spPr>
          <a:xfrm>
            <a:off x="4270248" y="2423160"/>
            <a:ext cx="3749039" cy="306324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70248" y="2423160"/>
            <a:ext cx="91440" cy="30632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71416" y="2514600"/>
            <a:ext cx="3474720" cy="438912"/>
          </a:xfrm>
          <a:prstGeom prst="rect">
            <a:avLst/>
          </a:prstGeom>
          <a:noFill/>
        </p:spPr>
        <p:txBody>
          <a:bodyPr wrap="square">
            <a:spAutoFit/>
          </a:bodyPr>
          <a:lstStyle/>
          <a:p>
            <a:pPr algn="l"/>
            <a:r>
              <a:rPr sz="1600" b="1" i="0">
                <a:solidFill>
                  <a:srgbClr val="00B4D8"/>
                </a:solidFill>
                <a:latin typeface="Consolas"/>
              </a:rPr>
              <a:t>/taxi/joined/</a:t>
            </a:r>
          </a:p>
        </p:txBody>
      </p:sp>
      <p:sp>
        <p:nvSpPr>
          <p:cNvPr id="14" name="TextBox 13"/>
          <p:cNvSpPr txBox="1"/>
          <p:nvPr/>
        </p:nvSpPr>
        <p:spPr>
          <a:xfrm>
            <a:off x="4471416" y="3017520"/>
            <a:ext cx="3429000" cy="2331720"/>
          </a:xfrm>
          <a:prstGeom prst="rect">
            <a:avLst/>
          </a:prstGeom>
          <a:noFill/>
        </p:spPr>
        <p:txBody>
          <a:bodyPr wrap="square">
            <a:spAutoFit/>
          </a:bodyPr>
          <a:lstStyle/>
          <a:p>
            <a:pPr algn="l"/>
            <a:r>
              <a:rPr sz="1300" b="0" i="0">
                <a:solidFill>
                  <a:srgbClr val="B0C4CE"/>
                </a:solidFill>
                <a:latin typeface="Calibri"/>
              </a:rPr>
              <a:t>Clean trips + pu_borough, do_borough, pu_zone, do_zone.
PRIMARY input for all three MapReduce jobs. Borough grouping is only possible because this join was done in Spark.</a:t>
            </a:r>
          </a:p>
        </p:txBody>
      </p:sp>
      <p:sp>
        <p:nvSpPr>
          <p:cNvPr id="15" name="Rectangle 14"/>
          <p:cNvSpPr/>
          <p:nvPr/>
        </p:nvSpPr>
        <p:spPr>
          <a:xfrm>
            <a:off x="8220456" y="2423160"/>
            <a:ext cx="3749039" cy="3063240"/>
          </a:xfrm>
          <a:prstGeom prst="rect">
            <a:avLst/>
          </a:prstGeom>
          <a:solidFill>
            <a:srgbClr val="162A3C"/>
          </a:solidFill>
          <a:ln w="12700">
            <a:solidFill>
              <a:srgbClr val="0277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0456" y="2423160"/>
            <a:ext cx="91440" cy="30632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21624" y="2514600"/>
            <a:ext cx="3474720" cy="438912"/>
          </a:xfrm>
          <a:prstGeom prst="rect">
            <a:avLst/>
          </a:prstGeom>
          <a:noFill/>
        </p:spPr>
        <p:txBody>
          <a:bodyPr wrap="square">
            <a:spAutoFit/>
          </a:bodyPr>
          <a:lstStyle/>
          <a:p>
            <a:pPr algn="l"/>
            <a:r>
              <a:rPr sz="1600" b="1" i="0">
                <a:solidFill>
                  <a:srgbClr val="FF8C42"/>
                </a:solidFill>
                <a:latin typeface="Consolas"/>
              </a:rPr>
              <a:t>/taxi/anomalies/</a:t>
            </a:r>
          </a:p>
        </p:txBody>
      </p:sp>
      <p:sp>
        <p:nvSpPr>
          <p:cNvPr id="18" name="TextBox 17"/>
          <p:cNvSpPr txBox="1"/>
          <p:nvPr/>
        </p:nvSpPr>
        <p:spPr>
          <a:xfrm>
            <a:off x="8421624" y="3017520"/>
            <a:ext cx="3429000" cy="2331720"/>
          </a:xfrm>
          <a:prstGeom prst="rect">
            <a:avLst/>
          </a:prstGeom>
          <a:noFill/>
        </p:spPr>
        <p:txBody>
          <a:bodyPr wrap="square">
            <a:spAutoFit/>
          </a:bodyPr>
          <a:lstStyle/>
          <a:p>
            <a:pPr algn="l"/>
            <a:r>
              <a:rPr sz="1300" b="0" i="0">
                <a:solidFill>
                  <a:srgbClr val="B0C4CE"/>
                </a:solidFill>
                <a:latin typeface="Calibri"/>
              </a:rPr>
              <a:t>Trips that failed at least one anomaly rule.
Preserved for review — not deleted. Contains is_anomaly=True flag and all original fields. Input for MapReduce Job 3.</a:t>
            </a:r>
          </a:p>
        </p:txBody>
      </p:sp>
      <p:sp>
        <p:nvSpPr>
          <p:cNvPr id="19" name="Rectangle 18"/>
          <p:cNvSpPr/>
          <p:nvPr/>
        </p:nvSpPr>
        <p:spPr>
          <a:xfrm>
            <a:off x="320040" y="5650992"/>
            <a:ext cx="11521440" cy="1005840"/>
          </a:xfrm>
          <a:prstGeom prst="rect">
            <a:avLst/>
          </a:prstGeom>
          <a:solidFill>
            <a:srgbClr val="16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 y="5650992"/>
            <a:ext cx="91440" cy="1005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5715000"/>
            <a:ext cx="2743200" cy="320040"/>
          </a:xfrm>
          <a:prstGeom prst="rect">
            <a:avLst/>
          </a:prstGeom>
          <a:noFill/>
        </p:spPr>
        <p:txBody>
          <a:bodyPr wrap="square">
            <a:spAutoFit/>
          </a:bodyPr>
          <a:lstStyle/>
          <a:p>
            <a:pPr algn="l"/>
            <a:r>
              <a:rPr sz="1200" b="1" i="0">
                <a:solidFill>
                  <a:srgbClr val="00B4D8"/>
                </a:solidFill>
                <a:latin typeface="Calibri"/>
              </a:rPr>
              <a:t>Storage stack</a:t>
            </a:r>
          </a:p>
        </p:txBody>
      </p:sp>
      <p:sp>
        <p:nvSpPr>
          <p:cNvPr id="22" name="TextBox 21"/>
          <p:cNvSpPr txBox="1"/>
          <p:nvPr/>
        </p:nvSpPr>
        <p:spPr>
          <a:xfrm>
            <a:off x="530352" y="6053328"/>
            <a:ext cx="11155680" cy="502920"/>
          </a:xfrm>
          <a:prstGeom prst="rect">
            <a:avLst/>
          </a:prstGeom>
          <a:noFill/>
        </p:spPr>
        <p:txBody>
          <a:bodyPr wrap="square">
            <a:spAutoFit/>
          </a:bodyPr>
          <a:lstStyle/>
          <a:p>
            <a:r>
              <a:rPr sz="1300" b="0">
                <a:solidFill>
                  <a:srgbClr val="B0C4CE"/>
                </a:solidFill>
                <a:latin typeface="Calibri"/>
              </a:rPr>
              <a:t>Parquet — columnar, compressed, schema-embedded. MapReduce reads only the columns it needs → fast.   |   NameNode manages the filesystem namespace (port 9870).   |   DataNode stores the actual blocks (port 9864).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201168"/>
            <a:ext cx="7315200" cy="320040"/>
          </a:xfrm>
          <a:prstGeom prst="rect">
            <a:avLst/>
          </a:prstGeom>
          <a:noFill/>
        </p:spPr>
        <p:txBody>
          <a:bodyPr wrap="square">
            <a:spAutoFit/>
          </a:bodyPr>
          <a:lstStyle/>
          <a:p>
            <a:pPr algn="l"/>
            <a:r>
              <a:rPr sz="1100" b="1" i="0">
                <a:solidFill>
                  <a:srgbClr val="00B4D8"/>
                </a:solidFill>
                <a:latin typeface="Calibri"/>
              </a:rPr>
              <a:t>STAGE 5 — ANALYTICS</a:t>
            </a:r>
          </a:p>
        </p:txBody>
      </p:sp>
      <p:sp>
        <p:nvSpPr>
          <p:cNvPr id="5" name="TextBox 4"/>
          <p:cNvSpPr txBox="1"/>
          <p:nvPr/>
        </p:nvSpPr>
        <p:spPr>
          <a:xfrm>
            <a:off x="320040" y="530352"/>
            <a:ext cx="11521440" cy="685800"/>
          </a:xfrm>
          <a:prstGeom prst="rect">
            <a:avLst/>
          </a:prstGeom>
          <a:noFill/>
        </p:spPr>
        <p:txBody>
          <a:bodyPr wrap="square">
            <a:spAutoFit/>
          </a:bodyPr>
          <a:lstStyle/>
          <a:p>
            <a:pPr algn="l"/>
            <a:r>
              <a:rPr sz="3400" b="1" i="0">
                <a:solidFill>
                  <a:srgbClr val="FFFFFF"/>
                </a:solidFill>
                <a:latin typeface="Calibri"/>
              </a:rPr>
              <a:t>MapReduce — Three Batch Jobs</a:t>
            </a:r>
          </a:p>
        </p:txBody>
      </p:sp>
      <p:sp>
        <p:nvSpPr>
          <p:cNvPr id="6" name="TextBox 5"/>
          <p:cNvSpPr txBox="1"/>
          <p:nvPr/>
        </p:nvSpPr>
        <p:spPr>
          <a:xfrm>
            <a:off x="292736" y="1260675"/>
            <a:ext cx="11521440" cy="914400"/>
          </a:xfrm>
          <a:prstGeom prst="rect">
            <a:avLst/>
          </a:prstGeom>
          <a:noFill/>
        </p:spPr>
        <p:txBody>
          <a:bodyPr wrap="square">
            <a:spAutoFit/>
          </a:bodyPr>
          <a:lstStyle/>
          <a:p>
            <a:pPr algn="l"/>
            <a:r>
              <a:rPr sz="1400" b="0" i="0">
                <a:solidFill>
                  <a:srgbClr val="E8F4F8"/>
                </a:solidFill>
                <a:latin typeface="Calibri"/>
              </a:rPr>
              <a:t>After Spark has written enriched Parquet files to HDFS, three independent MapReduce jobs run in batch mode to produce the final analytical results. Each follows the same Map → Shuffle → Reduce pattern implemented via Spark RDD operations.</a:t>
            </a:r>
          </a:p>
        </p:txBody>
      </p:sp>
      <p:sp>
        <p:nvSpPr>
          <p:cNvPr id="7" name="Rectangle 6"/>
          <p:cNvSpPr/>
          <p:nvPr/>
        </p:nvSpPr>
        <p:spPr>
          <a:xfrm>
            <a:off x="320040" y="2131279"/>
            <a:ext cx="11521440" cy="1298448"/>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2131279"/>
            <a:ext cx="109728" cy="12984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204431"/>
            <a:ext cx="822960" cy="329184"/>
          </a:xfrm>
          <a:prstGeom prst="rect">
            <a:avLst/>
          </a:prstGeom>
          <a:noFill/>
        </p:spPr>
        <p:txBody>
          <a:bodyPr wrap="square">
            <a:spAutoFit/>
          </a:bodyPr>
          <a:lstStyle/>
          <a:p>
            <a:pPr algn="l"/>
            <a:r>
              <a:rPr sz="1200" b="1" i="0">
                <a:solidFill>
                  <a:srgbClr val="00B4D8"/>
                </a:solidFill>
                <a:latin typeface="Calibri"/>
              </a:rPr>
              <a:t>JOB 1</a:t>
            </a:r>
          </a:p>
        </p:txBody>
      </p:sp>
      <p:sp>
        <p:nvSpPr>
          <p:cNvPr id="10" name="TextBox 9"/>
          <p:cNvSpPr txBox="1"/>
          <p:nvPr/>
        </p:nvSpPr>
        <p:spPr>
          <a:xfrm>
            <a:off x="548640" y="2570191"/>
            <a:ext cx="2880360" cy="475488"/>
          </a:xfrm>
          <a:prstGeom prst="rect">
            <a:avLst/>
          </a:prstGeom>
          <a:noFill/>
        </p:spPr>
        <p:txBody>
          <a:bodyPr wrap="square">
            <a:spAutoFit/>
          </a:bodyPr>
          <a:lstStyle/>
          <a:p>
            <a:pPr algn="l"/>
            <a:r>
              <a:rPr sz="1700" b="1" i="0">
                <a:solidFill>
                  <a:srgbClr val="FFFFFF"/>
                </a:solidFill>
                <a:latin typeface="Calibri"/>
              </a:rPr>
              <a:t>Trips per Borough</a:t>
            </a:r>
          </a:p>
        </p:txBody>
      </p:sp>
      <p:sp>
        <p:nvSpPr>
          <p:cNvPr id="11" name="TextBox 10"/>
          <p:cNvSpPr txBox="1"/>
          <p:nvPr/>
        </p:nvSpPr>
        <p:spPr>
          <a:xfrm>
            <a:off x="3406665" y="2186143"/>
            <a:ext cx="3075999" cy="938719"/>
          </a:xfrm>
          <a:prstGeom prst="rect">
            <a:avLst/>
          </a:prstGeom>
          <a:noFill/>
        </p:spPr>
        <p:txBody>
          <a:bodyPr wrap="square">
            <a:spAutoFit/>
          </a:bodyPr>
          <a:lstStyle/>
          <a:p>
            <a:pPr algn="l"/>
            <a:r>
              <a:rPr sz="1100" b="0" i="0" dirty="0">
                <a:solidFill>
                  <a:srgbClr val="B0C4CE"/>
                </a:solidFill>
                <a:latin typeface="Consolas"/>
              </a:rPr>
              <a:t>Input:   hdfs://namenode:9000/taxi/joined/
Output:  hdfs://namenode:9000/taxi/output/trips_per_borough/</a:t>
            </a:r>
          </a:p>
        </p:txBody>
      </p:sp>
      <p:sp>
        <p:nvSpPr>
          <p:cNvPr id="12" name="TextBox 11"/>
          <p:cNvSpPr txBox="1"/>
          <p:nvPr/>
        </p:nvSpPr>
        <p:spPr>
          <a:xfrm>
            <a:off x="6644937" y="2334214"/>
            <a:ext cx="3749039" cy="600164"/>
          </a:xfrm>
          <a:prstGeom prst="rect">
            <a:avLst/>
          </a:prstGeom>
          <a:noFill/>
        </p:spPr>
        <p:txBody>
          <a:bodyPr wrap="square">
            <a:spAutoFit/>
          </a:bodyPr>
          <a:lstStyle/>
          <a:p>
            <a:pPr algn="l"/>
            <a:r>
              <a:rPr sz="1100" b="0" i="0" dirty="0">
                <a:solidFill>
                  <a:srgbClr val="E8F4F8"/>
                </a:solidFill>
                <a:latin typeface="Consolas"/>
              </a:rPr>
              <a:t>MAP   row  →  ('borough',  1)
SHUFFLE  group all pairs by borough key
REDUCE   </a:t>
            </a:r>
            <a:r>
              <a:rPr sz="1100" b="0" i="0" dirty="0" err="1">
                <a:solidFill>
                  <a:srgbClr val="E8F4F8"/>
                </a:solidFill>
                <a:latin typeface="Consolas"/>
              </a:rPr>
              <a:t>reduceByKey</a:t>
            </a:r>
            <a:r>
              <a:rPr sz="1100" b="0" i="0" dirty="0">
                <a:solidFill>
                  <a:srgbClr val="E8F4F8"/>
                </a:solidFill>
                <a:latin typeface="Consolas"/>
              </a:rPr>
              <a:t>(lambda </a:t>
            </a:r>
            <a:r>
              <a:rPr sz="1100" b="0" i="0" dirty="0" err="1">
                <a:solidFill>
                  <a:srgbClr val="E8F4F8"/>
                </a:solidFill>
                <a:latin typeface="Consolas"/>
              </a:rPr>
              <a:t>a,b</a:t>
            </a:r>
            <a:r>
              <a:rPr sz="1100" b="0" i="0" dirty="0">
                <a:solidFill>
                  <a:srgbClr val="E8F4F8"/>
                </a:solidFill>
                <a:latin typeface="Consolas"/>
              </a:rPr>
              <a:t>: </a:t>
            </a:r>
            <a:r>
              <a:rPr sz="1100" b="0" i="0" dirty="0" err="1">
                <a:solidFill>
                  <a:srgbClr val="E8F4F8"/>
                </a:solidFill>
                <a:latin typeface="Consolas"/>
              </a:rPr>
              <a:t>a+b</a:t>
            </a:r>
            <a:r>
              <a:rPr sz="1100" b="0" i="0" dirty="0">
                <a:solidFill>
                  <a:srgbClr val="E8F4F8"/>
                </a:solidFill>
                <a:latin typeface="Consolas"/>
              </a:rPr>
              <a:t>)</a:t>
            </a:r>
          </a:p>
        </p:txBody>
      </p:sp>
      <p:sp>
        <p:nvSpPr>
          <p:cNvPr id="13" name="TextBox 12"/>
          <p:cNvSpPr txBox="1"/>
          <p:nvPr/>
        </p:nvSpPr>
        <p:spPr>
          <a:xfrm>
            <a:off x="10015135" y="2349616"/>
            <a:ext cx="1629631" cy="861774"/>
          </a:xfrm>
          <a:prstGeom prst="rect">
            <a:avLst/>
          </a:prstGeom>
          <a:noFill/>
        </p:spPr>
        <p:txBody>
          <a:bodyPr wrap="square">
            <a:spAutoFit/>
          </a:bodyPr>
          <a:lstStyle/>
          <a:p>
            <a:pPr algn="l"/>
            <a:r>
              <a:rPr sz="1000" b="0" i="0" dirty="0" err="1">
                <a:solidFill>
                  <a:srgbClr val="00B4D8"/>
                </a:solidFill>
                <a:latin typeface="Consolas"/>
              </a:rPr>
              <a:t>borough,trip_count</a:t>
            </a:r>
            <a:r>
              <a:rPr sz="1000" b="0" i="0" dirty="0">
                <a:solidFill>
                  <a:srgbClr val="00B4D8"/>
                </a:solidFill>
                <a:latin typeface="Consolas"/>
              </a:rPr>
              <a:t>
Manhattan,32481
Queens,8204
Brooklyn,6102
Bronx,2891</a:t>
            </a:r>
          </a:p>
        </p:txBody>
      </p:sp>
      <p:sp>
        <p:nvSpPr>
          <p:cNvPr id="14" name="Rectangle 13"/>
          <p:cNvSpPr/>
          <p:nvPr/>
        </p:nvSpPr>
        <p:spPr>
          <a:xfrm>
            <a:off x="320040" y="3548599"/>
            <a:ext cx="11521440" cy="1298448"/>
          </a:xfrm>
          <a:prstGeom prst="rect">
            <a:avLst/>
          </a:prstGeom>
          <a:solidFill>
            <a:srgbClr val="02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3548599"/>
            <a:ext cx="109728" cy="1298448"/>
          </a:xfrm>
          <a:prstGeom prst="rect">
            <a:avLst/>
          </a:prstGeom>
          <a:solidFill>
            <a:srgbClr val="009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621751"/>
            <a:ext cx="822960" cy="329184"/>
          </a:xfrm>
          <a:prstGeom prst="rect">
            <a:avLst/>
          </a:prstGeom>
          <a:noFill/>
        </p:spPr>
        <p:txBody>
          <a:bodyPr wrap="square">
            <a:spAutoFit/>
          </a:bodyPr>
          <a:lstStyle/>
          <a:p>
            <a:pPr algn="l"/>
            <a:r>
              <a:rPr sz="1200" b="1" i="0">
                <a:solidFill>
                  <a:srgbClr val="0090B0"/>
                </a:solidFill>
                <a:latin typeface="Calibri"/>
              </a:rPr>
              <a:t>JOB 2</a:t>
            </a:r>
          </a:p>
        </p:txBody>
      </p:sp>
      <p:sp>
        <p:nvSpPr>
          <p:cNvPr id="17" name="TextBox 16"/>
          <p:cNvSpPr txBox="1"/>
          <p:nvPr/>
        </p:nvSpPr>
        <p:spPr>
          <a:xfrm>
            <a:off x="548640" y="3987511"/>
            <a:ext cx="2880360" cy="475488"/>
          </a:xfrm>
          <a:prstGeom prst="rect">
            <a:avLst/>
          </a:prstGeom>
          <a:noFill/>
        </p:spPr>
        <p:txBody>
          <a:bodyPr wrap="square">
            <a:spAutoFit/>
          </a:bodyPr>
          <a:lstStyle/>
          <a:p>
            <a:pPr algn="l"/>
            <a:r>
              <a:rPr sz="1700" b="1" i="0">
                <a:solidFill>
                  <a:srgbClr val="FFFFFF"/>
                </a:solidFill>
                <a:latin typeface="Calibri"/>
              </a:rPr>
              <a:t>Revenue per Borough</a:t>
            </a:r>
          </a:p>
        </p:txBody>
      </p:sp>
      <p:sp>
        <p:nvSpPr>
          <p:cNvPr id="18" name="TextBox 17"/>
          <p:cNvSpPr txBox="1"/>
          <p:nvPr/>
        </p:nvSpPr>
        <p:spPr>
          <a:xfrm>
            <a:off x="2779344" y="3635191"/>
            <a:ext cx="3703320" cy="1170432"/>
          </a:xfrm>
          <a:prstGeom prst="rect">
            <a:avLst/>
          </a:prstGeom>
          <a:noFill/>
        </p:spPr>
        <p:txBody>
          <a:bodyPr wrap="square">
            <a:spAutoFit/>
          </a:bodyPr>
          <a:lstStyle/>
          <a:p>
            <a:pPr algn="l"/>
            <a:r>
              <a:rPr sz="1100" b="0" i="0" dirty="0">
                <a:solidFill>
                  <a:srgbClr val="B0C4CE"/>
                </a:solidFill>
                <a:latin typeface="Consolas"/>
              </a:rPr>
              <a:t>Input:   hdfs://namenode:9000/taxi/joined/
Output:  hdfs://namenode:9000/taxi/output/revenue_per_borough/</a:t>
            </a:r>
          </a:p>
        </p:txBody>
      </p:sp>
      <p:sp>
        <p:nvSpPr>
          <p:cNvPr id="19" name="TextBox 18"/>
          <p:cNvSpPr txBox="1"/>
          <p:nvPr/>
        </p:nvSpPr>
        <p:spPr>
          <a:xfrm>
            <a:off x="6644937" y="3603463"/>
            <a:ext cx="3129168" cy="1107996"/>
          </a:xfrm>
          <a:prstGeom prst="rect">
            <a:avLst/>
          </a:prstGeom>
          <a:noFill/>
        </p:spPr>
        <p:txBody>
          <a:bodyPr wrap="square">
            <a:spAutoFit/>
          </a:bodyPr>
          <a:lstStyle/>
          <a:p>
            <a:pPr algn="l"/>
            <a:r>
              <a:rPr sz="1100" b="0" i="0" dirty="0">
                <a:solidFill>
                  <a:srgbClr val="E8F4F8"/>
                </a:solidFill>
                <a:latin typeface="Consolas"/>
              </a:rPr>
              <a:t>MAP      row  →  ('borough', (total,fare,tip,1))
SHUFFLE  group all tuples by borough key
REDUCE   sum each position, compute avg/trip</a:t>
            </a:r>
          </a:p>
        </p:txBody>
      </p:sp>
      <p:sp>
        <p:nvSpPr>
          <p:cNvPr id="20" name="TextBox 19"/>
          <p:cNvSpPr txBox="1"/>
          <p:nvPr/>
        </p:nvSpPr>
        <p:spPr>
          <a:xfrm>
            <a:off x="9549685" y="3831458"/>
            <a:ext cx="2516216" cy="553998"/>
          </a:xfrm>
          <a:prstGeom prst="rect">
            <a:avLst/>
          </a:prstGeom>
          <a:noFill/>
        </p:spPr>
        <p:txBody>
          <a:bodyPr wrap="square">
            <a:spAutoFit/>
          </a:bodyPr>
          <a:lstStyle/>
          <a:p>
            <a:pPr algn="l"/>
            <a:r>
              <a:rPr sz="1000" b="0" i="0" dirty="0" err="1">
                <a:solidFill>
                  <a:srgbClr val="0090B0"/>
                </a:solidFill>
                <a:latin typeface="Consolas"/>
              </a:rPr>
              <a:t>borough,revenue,avg_per_trip</a:t>
            </a:r>
            <a:r>
              <a:rPr sz="1000" b="0" i="0" dirty="0">
                <a:solidFill>
                  <a:srgbClr val="0090B0"/>
                </a:solidFill>
                <a:latin typeface="Consolas"/>
              </a:rPr>
              <a:t>
Manhattan,$412k,$12.87
Queens,$95k,$11.58</a:t>
            </a:r>
          </a:p>
        </p:txBody>
      </p:sp>
      <p:sp>
        <p:nvSpPr>
          <p:cNvPr id="21" name="Rectangle 20"/>
          <p:cNvSpPr/>
          <p:nvPr/>
        </p:nvSpPr>
        <p:spPr>
          <a:xfrm>
            <a:off x="320040" y="4965919"/>
            <a:ext cx="11521440" cy="1298448"/>
          </a:xfrm>
          <a:prstGeom prst="rect">
            <a:avLst/>
          </a:prstGeom>
          <a:solidFill>
            <a:srgbClr val="2A1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4965919"/>
            <a:ext cx="109728" cy="1298448"/>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5039071"/>
            <a:ext cx="822960" cy="329184"/>
          </a:xfrm>
          <a:prstGeom prst="rect">
            <a:avLst/>
          </a:prstGeom>
          <a:noFill/>
        </p:spPr>
        <p:txBody>
          <a:bodyPr wrap="square">
            <a:spAutoFit/>
          </a:bodyPr>
          <a:lstStyle/>
          <a:p>
            <a:pPr algn="l"/>
            <a:r>
              <a:rPr sz="1200" b="1" i="0">
                <a:solidFill>
                  <a:srgbClr val="FF8C42"/>
                </a:solidFill>
                <a:latin typeface="Calibri"/>
              </a:rPr>
              <a:t>JOB 3</a:t>
            </a:r>
          </a:p>
        </p:txBody>
      </p:sp>
      <p:sp>
        <p:nvSpPr>
          <p:cNvPr id="24" name="TextBox 23"/>
          <p:cNvSpPr txBox="1"/>
          <p:nvPr/>
        </p:nvSpPr>
        <p:spPr>
          <a:xfrm>
            <a:off x="548640" y="5404831"/>
            <a:ext cx="2880360" cy="475488"/>
          </a:xfrm>
          <a:prstGeom prst="rect">
            <a:avLst/>
          </a:prstGeom>
          <a:noFill/>
        </p:spPr>
        <p:txBody>
          <a:bodyPr wrap="square">
            <a:spAutoFit/>
          </a:bodyPr>
          <a:lstStyle/>
          <a:p>
            <a:pPr algn="l"/>
            <a:r>
              <a:rPr sz="1700" b="1" i="0" dirty="0">
                <a:solidFill>
                  <a:srgbClr val="FFFFFF"/>
                </a:solidFill>
                <a:latin typeface="Calibri"/>
              </a:rPr>
              <a:t>Anomaly Counts per Borough</a:t>
            </a:r>
          </a:p>
        </p:txBody>
      </p:sp>
      <p:sp>
        <p:nvSpPr>
          <p:cNvPr id="25" name="TextBox 24"/>
          <p:cNvSpPr txBox="1"/>
          <p:nvPr/>
        </p:nvSpPr>
        <p:spPr>
          <a:xfrm>
            <a:off x="3406665" y="5020783"/>
            <a:ext cx="3075999" cy="938719"/>
          </a:xfrm>
          <a:prstGeom prst="rect">
            <a:avLst/>
          </a:prstGeom>
          <a:noFill/>
        </p:spPr>
        <p:txBody>
          <a:bodyPr wrap="square">
            <a:spAutoFit/>
          </a:bodyPr>
          <a:lstStyle/>
          <a:p>
            <a:pPr algn="l"/>
            <a:r>
              <a:rPr sz="1100" b="0" i="0" dirty="0">
                <a:solidFill>
                  <a:srgbClr val="B0C4CE"/>
                </a:solidFill>
                <a:latin typeface="Consolas"/>
              </a:rPr>
              <a:t>Input:   hdfs://namenode:9000/taxi/anomalies/
Output:  hdfs://namenode:9000/taxi/output/anomaly_counts/</a:t>
            </a:r>
          </a:p>
        </p:txBody>
      </p:sp>
      <p:sp>
        <p:nvSpPr>
          <p:cNvPr id="26" name="TextBox 25"/>
          <p:cNvSpPr txBox="1"/>
          <p:nvPr/>
        </p:nvSpPr>
        <p:spPr>
          <a:xfrm>
            <a:off x="6644937" y="5020783"/>
            <a:ext cx="2908842" cy="1107996"/>
          </a:xfrm>
          <a:prstGeom prst="rect">
            <a:avLst/>
          </a:prstGeom>
          <a:noFill/>
        </p:spPr>
        <p:txBody>
          <a:bodyPr wrap="square">
            <a:spAutoFit/>
          </a:bodyPr>
          <a:lstStyle/>
          <a:p>
            <a:pPr algn="l"/>
            <a:r>
              <a:rPr sz="1100" b="0" i="0" dirty="0" err="1">
                <a:solidFill>
                  <a:srgbClr val="E8F4F8"/>
                </a:solidFill>
                <a:latin typeface="Consolas"/>
              </a:rPr>
              <a:t>flatMAP</a:t>
            </a:r>
            <a:r>
              <a:rPr sz="1100" b="0" i="0" dirty="0">
                <a:solidFill>
                  <a:srgbClr val="E8F4F8"/>
                </a:solidFill>
                <a:latin typeface="Consolas"/>
              </a:rPr>
              <a:t>  row  →  [(</a:t>
            </a:r>
            <a:r>
              <a:rPr sz="1100" b="0" i="0" dirty="0" err="1">
                <a:solidFill>
                  <a:srgbClr val="E8F4F8"/>
                </a:solidFill>
                <a:latin typeface="Consolas"/>
              </a:rPr>
              <a:t>borough,type</a:t>
            </a:r>
            <a:r>
              <a:rPr sz="1100" b="0" i="0" dirty="0">
                <a:solidFill>
                  <a:srgbClr val="E8F4F8"/>
                </a:solidFill>
                <a:latin typeface="Consolas"/>
              </a:rPr>
              <a:t>),(</a:t>
            </a:r>
            <a:r>
              <a:rPr sz="1100" b="0" i="0" dirty="0" err="1">
                <a:solidFill>
                  <a:srgbClr val="E8F4F8"/>
                </a:solidFill>
                <a:latin typeface="Consolas"/>
              </a:rPr>
              <a:t>borough,type</a:t>
            </a:r>
            <a:r>
              <a:rPr sz="1100" b="0" i="0" dirty="0">
                <a:solidFill>
                  <a:srgbClr val="E8F4F8"/>
                </a:solidFill>
                <a:latin typeface="Consolas"/>
              </a:rPr>
              <a:t>),...]
SHUFFLE  group by (borough, </a:t>
            </a:r>
            <a:r>
              <a:rPr sz="1100" b="0" i="0" dirty="0" err="1">
                <a:solidFill>
                  <a:srgbClr val="E8F4F8"/>
                </a:solidFill>
                <a:latin typeface="Consolas"/>
              </a:rPr>
              <a:t>anomaly_type</a:t>
            </a:r>
            <a:r>
              <a:rPr sz="1100" b="0" i="0" dirty="0">
                <a:solidFill>
                  <a:srgbClr val="E8F4F8"/>
                </a:solidFill>
                <a:latin typeface="Consolas"/>
              </a:rPr>
              <a:t>) pair
REDUCE   count each (borough, type) pair</a:t>
            </a:r>
          </a:p>
        </p:txBody>
      </p:sp>
      <p:sp>
        <p:nvSpPr>
          <p:cNvPr id="27" name="TextBox 26"/>
          <p:cNvSpPr txBox="1"/>
          <p:nvPr/>
        </p:nvSpPr>
        <p:spPr>
          <a:xfrm>
            <a:off x="9699551" y="5193763"/>
            <a:ext cx="2260801" cy="553998"/>
          </a:xfrm>
          <a:prstGeom prst="rect">
            <a:avLst/>
          </a:prstGeom>
          <a:noFill/>
        </p:spPr>
        <p:txBody>
          <a:bodyPr wrap="square">
            <a:spAutoFit/>
          </a:bodyPr>
          <a:lstStyle/>
          <a:p>
            <a:pPr algn="l"/>
            <a:r>
              <a:rPr sz="1000" b="0" i="0" dirty="0" err="1">
                <a:solidFill>
                  <a:srgbClr val="FF8C42"/>
                </a:solidFill>
                <a:latin typeface="Consolas"/>
              </a:rPr>
              <a:t>borough,anomaly_type,count</a:t>
            </a:r>
            <a:r>
              <a:rPr sz="1000" b="0" i="0" dirty="0">
                <a:solidFill>
                  <a:srgbClr val="FF8C42"/>
                </a:solidFill>
                <a:latin typeface="Consolas"/>
              </a:rPr>
              <a:t>
Manhattan,fare_too_high,42
Manhattan,dist_zero,31</a:t>
            </a:r>
          </a:p>
        </p:txBody>
      </p:sp>
      <p:sp>
        <p:nvSpPr>
          <p:cNvPr id="28" name="Rectangle 27"/>
          <p:cNvSpPr/>
          <p:nvPr/>
        </p:nvSpPr>
        <p:spPr>
          <a:xfrm>
            <a:off x="320040" y="6720840"/>
            <a:ext cx="11521440" cy="0"/>
          </a:xfrm>
          <a:prstGeom prst="rect">
            <a:avLst/>
          </a:prstGeom>
          <a:solidFill>
            <a:srgbClr val="16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0040" y="6385267"/>
            <a:ext cx="11521440" cy="461665"/>
          </a:xfrm>
          <a:prstGeom prst="rect">
            <a:avLst/>
          </a:prstGeom>
          <a:noFill/>
        </p:spPr>
        <p:txBody>
          <a:bodyPr wrap="square">
            <a:spAutoFit/>
          </a:bodyPr>
          <a:lstStyle/>
          <a:p>
            <a:pPr algn="l"/>
            <a:r>
              <a:rPr sz="1200" b="1" i="1" dirty="0">
                <a:solidFill>
                  <a:srgbClr val="B0C4CE"/>
                </a:solidFill>
                <a:latin typeface="Calibri"/>
              </a:rPr>
              <a:t>Job 3 uses </a:t>
            </a:r>
            <a:r>
              <a:rPr sz="1200" b="1" i="1" dirty="0" err="1">
                <a:solidFill>
                  <a:srgbClr val="B0C4CE"/>
                </a:solidFill>
                <a:latin typeface="Calibri"/>
              </a:rPr>
              <a:t>flatMap</a:t>
            </a:r>
            <a:r>
              <a:rPr sz="1200" b="1" i="1" dirty="0">
                <a:solidFill>
                  <a:srgbClr val="B0C4CE"/>
                </a:solidFill>
                <a:latin typeface="Calibri"/>
              </a:rPr>
              <a:t> (not map) because one anomalous record can violate multiple rules simultaneously — e.g. fare=0 AND distance=0. </a:t>
            </a:r>
            <a:r>
              <a:rPr sz="1200" b="1" i="1" dirty="0" err="1">
                <a:solidFill>
                  <a:srgbClr val="B0C4CE"/>
                </a:solidFill>
                <a:latin typeface="Calibri"/>
              </a:rPr>
              <a:t>flatMap</a:t>
            </a:r>
            <a:r>
              <a:rPr sz="1200" b="1" i="1" dirty="0">
                <a:solidFill>
                  <a:srgbClr val="B0C4CE"/>
                </a:solidFill>
                <a:latin typeface="Calibri"/>
              </a:rPr>
              <a:t> emits one (borough, type) pair per violation.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201168"/>
            <a:ext cx="7315200" cy="320040"/>
          </a:xfrm>
          <a:prstGeom prst="rect">
            <a:avLst/>
          </a:prstGeom>
          <a:noFill/>
        </p:spPr>
        <p:txBody>
          <a:bodyPr wrap="square">
            <a:spAutoFit/>
          </a:bodyPr>
          <a:lstStyle/>
          <a:p>
            <a:pPr algn="l"/>
            <a:r>
              <a:rPr sz="1100" b="1" i="0">
                <a:solidFill>
                  <a:srgbClr val="00B4D8"/>
                </a:solidFill>
                <a:latin typeface="Calibri"/>
              </a:rPr>
              <a:t>DEPLOYMENT</a:t>
            </a:r>
          </a:p>
        </p:txBody>
      </p:sp>
      <p:sp>
        <p:nvSpPr>
          <p:cNvPr id="5" name="TextBox 4"/>
          <p:cNvSpPr txBox="1"/>
          <p:nvPr/>
        </p:nvSpPr>
        <p:spPr>
          <a:xfrm>
            <a:off x="320040" y="530352"/>
            <a:ext cx="11521440" cy="685800"/>
          </a:xfrm>
          <a:prstGeom prst="rect">
            <a:avLst/>
          </a:prstGeom>
          <a:noFill/>
        </p:spPr>
        <p:txBody>
          <a:bodyPr wrap="square">
            <a:spAutoFit/>
          </a:bodyPr>
          <a:lstStyle/>
          <a:p>
            <a:pPr algn="l"/>
            <a:r>
              <a:rPr sz="3400" b="1" i="0">
                <a:solidFill>
                  <a:srgbClr val="FFFFFF"/>
                </a:solidFill>
                <a:latin typeface="Calibri"/>
              </a:rPr>
              <a:t>Running the Pipeline — PowerShell Commands</a:t>
            </a:r>
          </a:p>
        </p:txBody>
      </p:sp>
      <p:sp>
        <p:nvSpPr>
          <p:cNvPr id="6" name="Rectangle 5"/>
          <p:cNvSpPr/>
          <p:nvPr/>
        </p:nvSpPr>
        <p:spPr>
          <a:xfrm>
            <a:off x="320040" y="1417320"/>
            <a:ext cx="11521440" cy="475487"/>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417320"/>
            <a:ext cx="457200" cy="475487"/>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408176"/>
            <a:ext cx="457200" cy="438912"/>
          </a:xfrm>
          <a:prstGeom prst="rect">
            <a:avLst/>
          </a:prstGeom>
          <a:noFill/>
        </p:spPr>
        <p:txBody>
          <a:bodyPr wrap="square">
            <a:spAutoFit/>
          </a:bodyPr>
          <a:lstStyle/>
          <a:p>
            <a:pPr algn="ctr"/>
            <a:r>
              <a:rPr sz="2200" b="1" i="0" dirty="0">
                <a:solidFill>
                  <a:srgbClr val="FFFFFF"/>
                </a:solidFill>
                <a:latin typeface="Calibri"/>
              </a:rPr>
              <a:t>1</a:t>
            </a:r>
          </a:p>
        </p:txBody>
      </p:sp>
      <p:sp>
        <p:nvSpPr>
          <p:cNvPr id="9" name="TextBox 8"/>
          <p:cNvSpPr txBox="1"/>
          <p:nvPr/>
        </p:nvSpPr>
        <p:spPr>
          <a:xfrm>
            <a:off x="868680" y="1463040"/>
            <a:ext cx="3063240" cy="347472"/>
          </a:xfrm>
          <a:prstGeom prst="rect">
            <a:avLst/>
          </a:prstGeom>
          <a:noFill/>
        </p:spPr>
        <p:txBody>
          <a:bodyPr wrap="square">
            <a:spAutoFit/>
          </a:bodyPr>
          <a:lstStyle/>
          <a:p>
            <a:pPr algn="l"/>
            <a:r>
              <a:rPr sz="1300" b="1" i="0">
                <a:solidFill>
                  <a:srgbClr val="00B4D8"/>
                </a:solidFill>
                <a:latin typeface="Calibri"/>
              </a:rPr>
              <a:t>Start all 8 containers</a:t>
            </a:r>
          </a:p>
        </p:txBody>
      </p:sp>
      <p:sp>
        <p:nvSpPr>
          <p:cNvPr id="10" name="TextBox 9"/>
          <p:cNvSpPr txBox="1"/>
          <p:nvPr/>
        </p:nvSpPr>
        <p:spPr>
          <a:xfrm>
            <a:off x="4023360" y="1453896"/>
            <a:ext cx="7680960" cy="868680"/>
          </a:xfrm>
          <a:prstGeom prst="rect">
            <a:avLst/>
          </a:prstGeom>
          <a:noFill/>
        </p:spPr>
        <p:txBody>
          <a:bodyPr wrap="square">
            <a:spAutoFit/>
          </a:bodyPr>
          <a:lstStyle/>
          <a:p>
            <a:pPr algn="l"/>
            <a:r>
              <a:rPr sz="1000" b="0" i="0">
                <a:solidFill>
                  <a:srgbClr val="E8F4F8"/>
                </a:solidFill>
                <a:latin typeface="Consolas"/>
              </a:rPr>
              <a:t>docker compose up -d zookeeper kafka kafka-ui namenode datanode spark-master spark-worker spark-worker-2</a:t>
            </a:r>
          </a:p>
        </p:txBody>
      </p:sp>
      <p:sp>
        <p:nvSpPr>
          <p:cNvPr id="11" name="Rectangle 10"/>
          <p:cNvSpPr/>
          <p:nvPr/>
        </p:nvSpPr>
        <p:spPr>
          <a:xfrm>
            <a:off x="320040" y="1993380"/>
            <a:ext cx="11521440" cy="932688"/>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 y="1993380"/>
            <a:ext cx="457200" cy="9326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0040" y="1993380"/>
            <a:ext cx="457200" cy="438912"/>
          </a:xfrm>
          <a:prstGeom prst="rect">
            <a:avLst/>
          </a:prstGeom>
          <a:noFill/>
        </p:spPr>
        <p:txBody>
          <a:bodyPr wrap="square">
            <a:spAutoFit/>
          </a:bodyPr>
          <a:lstStyle/>
          <a:p>
            <a:pPr algn="ctr"/>
            <a:r>
              <a:rPr sz="2200" b="1" i="0" dirty="0">
                <a:solidFill>
                  <a:srgbClr val="FFFFFF"/>
                </a:solidFill>
                <a:latin typeface="Calibri"/>
              </a:rPr>
              <a:t>2</a:t>
            </a:r>
          </a:p>
        </p:txBody>
      </p:sp>
      <p:sp>
        <p:nvSpPr>
          <p:cNvPr id="14" name="TextBox 13"/>
          <p:cNvSpPr txBox="1"/>
          <p:nvPr/>
        </p:nvSpPr>
        <p:spPr>
          <a:xfrm>
            <a:off x="868680" y="2039100"/>
            <a:ext cx="3063240" cy="347472"/>
          </a:xfrm>
          <a:prstGeom prst="rect">
            <a:avLst/>
          </a:prstGeom>
          <a:noFill/>
        </p:spPr>
        <p:txBody>
          <a:bodyPr wrap="square">
            <a:spAutoFit/>
          </a:bodyPr>
          <a:lstStyle/>
          <a:p>
            <a:pPr algn="l"/>
            <a:r>
              <a:rPr sz="1300" b="1" i="0">
                <a:solidFill>
                  <a:srgbClr val="00B4D8"/>
                </a:solidFill>
                <a:latin typeface="Calibri"/>
              </a:rPr>
              <a:t>Create HDFS directories + permissions + upload zone lookup</a:t>
            </a:r>
          </a:p>
        </p:txBody>
      </p:sp>
      <p:sp>
        <p:nvSpPr>
          <p:cNvPr id="15" name="TextBox 14"/>
          <p:cNvSpPr txBox="1"/>
          <p:nvPr/>
        </p:nvSpPr>
        <p:spPr>
          <a:xfrm>
            <a:off x="4023360" y="2029957"/>
            <a:ext cx="7680960" cy="868680"/>
          </a:xfrm>
          <a:prstGeom prst="rect">
            <a:avLst/>
          </a:prstGeom>
          <a:noFill/>
        </p:spPr>
        <p:txBody>
          <a:bodyPr wrap="square">
            <a:spAutoFit/>
          </a:bodyPr>
          <a:lstStyle/>
          <a:p>
            <a:pPr algn="l"/>
            <a:r>
              <a:rPr sz="1000" b="0" i="0">
                <a:solidFill>
                  <a:srgbClr val="E8F4F8"/>
                </a:solidFill>
                <a:latin typeface="Consolas"/>
              </a:rPr>
              <a:t>docker exec namenode hdfs dfs -mkdir -p /taxi/clean /taxi/anomalies /taxi/joined /taxi/output /taxi/checkpoints
docker exec namenode hdfs dfs -put /data/taxi_zone_lookup.csv /taxi/
docker exec namenode hdfs dfs -chmod -R 777 /taxi</a:t>
            </a:r>
          </a:p>
        </p:txBody>
      </p:sp>
      <p:sp>
        <p:nvSpPr>
          <p:cNvPr id="16" name="Rectangle 15"/>
          <p:cNvSpPr/>
          <p:nvPr/>
        </p:nvSpPr>
        <p:spPr>
          <a:xfrm>
            <a:off x="320040" y="3005387"/>
            <a:ext cx="11521440" cy="438912"/>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3005387"/>
            <a:ext cx="457200" cy="44807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 y="3005387"/>
            <a:ext cx="457200" cy="438912"/>
          </a:xfrm>
          <a:prstGeom prst="rect">
            <a:avLst/>
          </a:prstGeom>
          <a:noFill/>
        </p:spPr>
        <p:txBody>
          <a:bodyPr wrap="square">
            <a:spAutoFit/>
          </a:bodyPr>
          <a:lstStyle/>
          <a:p>
            <a:pPr algn="ctr"/>
            <a:r>
              <a:rPr sz="2200" b="1" i="0" dirty="0">
                <a:solidFill>
                  <a:srgbClr val="FFFFFF"/>
                </a:solidFill>
                <a:latin typeface="Calibri"/>
              </a:rPr>
              <a:t>3</a:t>
            </a:r>
          </a:p>
        </p:txBody>
      </p:sp>
      <p:sp>
        <p:nvSpPr>
          <p:cNvPr id="19" name="TextBox 18"/>
          <p:cNvSpPr txBox="1"/>
          <p:nvPr/>
        </p:nvSpPr>
        <p:spPr>
          <a:xfrm>
            <a:off x="868680" y="3051107"/>
            <a:ext cx="3063240" cy="347472"/>
          </a:xfrm>
          <a:prstGeom prst="rect">
            <a:avLst/>
          </a:prstGeom>
          <a:noFill/>
        </p:spPr>
        <p:txBody>
          <a:bodyPr wrap="square">
            <a:spAutoFit/>
          </a:bodyPr>
          <a:lstStyle/>
          <a:p>
            <a:pPr algn="l"/>
            <a:r>
              <a:rPr sz="1300" b="1" i="0">
                <a:solidFill>
                  <a:srgbClr val="00B4D8"/>
                </a:solidFill>
                <a:latin typeface="Calibri"/>
              </a:rPr>
              <a:t>Create Kafka topic explicitly</a:t>
            </a:r>
          </a:p>
        </p:txBody>
      </p:sp>
      <p:sp>
        <p:nvSpPr>
          <p:cNvPr id="20" name="TextBox 19"/>
          <p:cNvSpPr txBox="1"/>
          <p:nvPr/>
        </p:nvSpPr>
        <p:spPr>
          <a:xfrm>
            <a:off x="4069080" y="3030896"/>
            <a:ext cx="7772400" cy="400110"/>
          </a:xfrm>
          <a:prstGeom prst="rect">
            <a:avLst/>
          </a:prstGeom>
          <a:noFill/>
        </p:spPr>
        <p:txBody>
          <a:bodyPr wrap="square">
            <a:spAutoFit/>
          </a:bodyPr>
          <a:lstStyle/>
          <a:p>
            <a:pPr algn="l"/>
            <a:r>
              <a:rPr sz="1000" b="0" i="0" dirty="0">
                <a:solidFill>
                  <a:srgbClr val="E8F4F8"/>
                </a:solidFill>
                <a:latin typeface="Consolas"/>
              </a:rPr>
              <a:t>docker exec </a:t>
            </a:r>
            <a:r>
              <a:rPr sz="1000" b="0" i="0" dirty="0" err="1">
                <a:solidFill>
                  <a:srgbClr val="E8F4F8"/>
                </a:solidFill>
                <a:latin typeface="Consolas"/>
              </a:rPr>
              <a:t>kafka</a:t>
            </a:r>
            <a:r>
              <a:rPr sz="1000" b="0" i="0" dirty="0">
                <a:solidFill>
                  <a:srgbClr val="E8F4F8"/>
                </a:solidFill>
                <a:latin typeface="Consolas"/>
              </a:rPr>
              <a:t> </a:t>
            </a:r>
            <a:r>
              <a:rPr sz="1000" b="0" i="0" dirty="0" err="1">
                <a:solidFill>
                  <a:srgbClr val="E8F4F8"/>
                </a:solidFill>
                <a:latin typeface="Consolas"/>
              </a:rPr>
              <a:t>kafka</a:t>
            </a:r>
            <a:r>
              <a:rPr sz="1000" b="0" i="0" dirty="0">
                <a:solidFill>
                  <a:srgbClr val="E8F4F8"/>
                </a:solidFill>
                <a:latin typeface="Consolas"/>
              </a:rPr>
              <a:t>-topics --bootstrap-server kafka:29092 --create --topic taxi-raw --partitions 1 --replication-factor 1</a:t>
            </a:r>
          </a:p>
        </p:txBody>
      </p:sp>
      <p:sp>
        <p:nvSpPr>
          <p:cNvPr id="21" name="Rectangle 20"/>
          <p:cNvSpPr/>
          <p:nvPr/>
        </p:nvSpPr>
        <p:spPr>
          <a:xfrm>
            <a:off x="320040" y="3538932"/>
            <a:ext cx="11521440" cy="1176178"/>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3538931"/>
            <a:ext cx="457200" cy="1176177"/>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0040" y="3794964"/>
            <a:ext cx="457200" cy="438912"/>
          </a:xfrm>
          <a:prstGeom prst="rect">
            <a:avLst/>
          </a:prstGeom>
          <a:noFill/>
        </p:spPr>
        <p:txBody>
          <a:bodyPr wrap="square">
            <a:spAutoFit/>
          </a:bodyPr>
          <a:lstStyle/>
          <a:p>
            <a:pPr algn="ctr"/>
            <a:r>
              <a:rPr sz="2200" b="1" i="0">
                <a:solidFill>
                  <a:srgbClr val="FFFFFF"/>
                </a:solidFill>
                <a:latin typeface="Calibri"/>
              </a:rPr>
              <a:t>4</a:t>
            </a:r>
          </a:p>
        </p:txBody>
      </p:sp>
      <p:sp>
        <p:nvSpPr>
          <p:cNvPr id="24" name="TextBox 23"/>
          <p:cNvSpPr txBox="1"/>
          <p:nvPr/>
        </p:nvSpPr>
        <p:spPr>
          <a:xfrm>
            <a:off x="868680" y="3584651"/>
            <a:ext cx="3063240" cy="347472"/>
          </a:xfrm>
          <a:prstGeom prst="rect">
            <a:avLst/>
          </a:prstGeom>
          <a:noFill/>
        </p:spPr>
        <p:txBody>
          <a:bodyPr wrap="square">
            <a:spAutoFit/>
          </a:bodyPr>
          <a:lstStyle/>
          <a:p>
            <a:pPr algn="l"/>
            <a:r>
              <a:rPr sz="1300" b="1" i="0">
                <a:solidFill>
                  <a:srgbClr val="00B4D8"/>
                </a:solidFill>
                <a:latin typeface="Calibri"/>
              </a:rPr>
              <a:t>Submit Spark streaming job  (open a new PowerShell window)</a:t>
            </a:r>
          </a:p>
        </p:txBody>
      </p:sp>
      <p:sp>
        <p:nvSpPr>
          <p:cNvPr id="25" name="TextBox 24"/>
          <p:cNvSpPr txBox="1"/>
          <p:nvPr/>
        </p:nvSpPr>
        <p:spPr>
          <a:xfrm>
            <a:off x="4023360" y="3575508"/>
            <a:ext cx="7680960" cy="1015663"/>
          </a:xfrm>
          <a:prstGeom prst="rect">
            <a:avLst/>
          </a:prstGeom>
          <a:noFill/>
        </p:spPr>
        <p:txBody>
          <a:bodyPr wrap="square">
            <a:spAutoFit/>
          </a:bodyPr>
          <a:lstStyle/>
          <a:p>
            <a:pPr algn="l"/>
            <a:r>
              <a:rPr sz="1000" b="0" i="0" dirty="0">
                <a:solidFill>
                  <a:srgbClr val="E8F4F8"/>
                </a:solidFill>
                <a:latin typeface="Consolas"/>
              </a:rPr>
              <a:t>docker exec spark-master /opt/spark/bin/spark-submit `
  --master spark://spark-master:7077 --total-executor-cores 1 `
  --packages org.apache.spark:spark-sql-kafka-0-10_2.12:3.4.1 `
  --conf </a:t>
            </a:r>
            <a:r>
              <a:rPr sz="1000" b="0" i="0" dirty="0" err="1">
                <a:solidFill>
                  <a:srgbClr val="E8F4F8"/>
                </a:solidFill>
                <a:latin typeface="Consolas"/>
              </a:rPr>
              <a:t>spark.jars.ivy</a:t>
            </a:r>
            <a:r>
              <a:rPr sz="1000" b="0" i="0" dirty="0">
                <a:solidFill>
                  <a:srgbClr val="E8F4F8"/>
                </a:solidFill>
                <a:latin typeface="Consolas"/>
              </a:rPr>
              <a:t>=/</a:t>
            </a:r>
            <a:r>
              <a:rPr sz="1000" b="0" i="0" dirty="0" err="1">
                <a:solidFill>
                  <a:srgbClr val="E8F4F8"/>
                </a:solidFill>
                <a:latin typeface="Consolas"/>
              </a:rPr>
              <a:t>tmp</a:t>
            </a:r>
            <a:r>
              <a:rPr sz="1000" b="0" i="0" dirty="0">
                <a:solidFill>
                  <a:srgbClr val="E8F4F8"/>
                </a:solidFill>
                <a:latin typeface="Consolas"/>
              </a:rPr>
              <a:t>/.ivy2 --conf </a:t>
            </a:r>
            <a:r>
              <a:rPr sz="1000" b="0" i="0" dirty="0" err="1">
                <a:solidFill>
                  <a:srgbClr val="E8F4F8"/>
                </a:solidFill>
                <a:latin typeface="Consolas"/>
              </a:rPr>
              <a:t>spark.executor.cores</a:t>
            </a:r>
            <a:r>
              <a:rPr sz="1000" b="0" i="0" dirty="0">
                <a:solidFill>
                  <a:srgbClr val="E8F4F8"/>
                </a:solidFill>
                <a:latin typeface="Consolas"/>
              </a:rPr>
              <a:t>=1 `
  --conf </a:t>
            </a:r>
            <a:r>
              <a:rPr sz="1000" b="0" i="0" dirty="0" err="1">
                <a:solidFill>
                  <a:srgbClr val="E8F4F8"/>
                </a:solidFill>
                <a:latin typeface="Consolas"/>
              </a:rPr>
              <a:t>spark.executor.memory</a:t>
            </a:r>
            <a:r>
              <a:rPr sz="1000" b="0" i="0" dirty="0">
                <a:solidFill>
                  <a:srgbClr val="E8F4F8"/>
                </a:solidFill>
                <a:latin typeface="Consolas"/>
              </a:rPr>
              <a:t>=1g --conf </a:t>
            </a:r>
            <a:r>
              <a:rPr sz="1000" b="0" i="0" dirty="0" err="1">
                <a:solidFill>
                  <a:srgbClr val="E8F4F8"/>
                </a:solidFill>
                <a:latin typeface="Consolas"/>
              </a:rPr>
              <a:t>spark.sql.shuffle.partitions</a:t>
            </a:r>
            <a:r>
              <a:rPr sz="1000" b="0" i="0" dirty="0">
                <a:solidFill>
                  <a:srgbClr val="E8F4F8"/>
                </a:solidFill>
                <a:latin typeface="Consolas"/>
              </a:rPr>
              <a:t>=1 `
  /opt/spark-apps/taxi_spark_job.py</a:t>
            </a:r>
          </a:p>
        </p:txBody>
      </p:sp>
      <p:sp>
        <p:nvSpPr>
          <p:cNvPr id="26" name="Rectangle 25"/>
          <p:cNvSpPr/>
          <p:nvPr/>
        </p:nvSpPr>
        <p:spPr>
          <a:xfrm>
            <a:off x="320040" y="4806115"/>
            <a:ext cx="11521440" cy="1382034"/>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0040" y="4806114"/>
            <a:ext cx="457200" cy="1382033"/>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5062148"/>
            <a:ext cx="457200" cy="438912"/>
          </a:xfrm>
          <a:prstGeom prst="rect">
            <a:avLst/>
          </a:prstGeom>
          <a:noFill/>
        </p:spPr>
        <p:txBody>
          <a:bodyPr wrap="square">
            <a:spAutoFit/>
          </a:bodyPr>
          <a:lstStyle/>
          <a:p>
            <a:pPr algn="ctr"/>
            <a:r>
              <a:rPr sz="2200" b="1" i="0">
                <a:solidFill>
                  <a:srgbClr val="FFFFFF"/>
                </a:solidFill>
                <a:latin typeface="Calibri"/>
              </a:rPr>
              <a:t>5</a:t>
            </a:r>
          </a:p>
        </p:txBody>
      </p:sp>
      <p:sp>
        <p:nvSpPr>
          <p:cNvPr id="29" name="TextBox 28"/>
          <p:cNvSpPr txBox="1"/>
          <p:nvPr/>
        </p:nvSpPr>
        <p:spPr>
          <a:xfrm>
            <a:off x="868680" y="4851835"/>
            <a:ext cx="3063240" cy="347472"/>
          </a:xfrm>
          <a:prstGeom prst="rect">
            <a:avLst/>
          </a:prstGeom>
          <a:noFill/>
        </p:spPr>
        <p:txBody>
          <a:bodyPr wrap="square">
            <a:spAutoFit/>
          </a:bodyPr>
          <a:lstStyle/>
          <a:p>
            <a:pPr algn="l"/>
            <a:r>
              <a:rPr sz="1300" b="1" i="0" dirty="0">
                <a:solidFill>
                  <a:srgbClr val="00B4D8"/>
                </a:solidFill>
                <a:latin typeface="Calibri"/>
              </a:rPr>
              <a:t>Build + start producer  |  Run MapReduce jobs after ~5 min</a:t>
            </a:r>
          </a:p>
        </p:txBody>
      </p:sp>
      <p:sp>
        <p:nvSpPr>
          <p:cNvPr id="30" name="TextBox 29"/>
          <p:cNvSpPr txBox="1"/>
          <p:nvPr/>
        </p:nvSpPr>
        <p:spPr>
          <a:xfrm>
            <a:off x="4023360" y="4842691"/>
            <a:ext cx="7863840" cy="1169551"/>
          </a:xfrm>
          <a:prstGeom prst="rect">
            <a:avLst/>
          </a:prstGeom>
          <a:noFill/>
        </p:spPr>
        <p:txBody>
          <a:bodyPr wrap="square">
            <a:spAutoFit/>
          </a:bodyPr>
          <a:lstStyle/>
          <a:p>
            <a:pPr algn="l"/>
            <a:r>
              <a:rPr sz="1000" b="0" i="0" dirty="0">
                <a:solidFill>
                  <a:srgbClr val="E8F4F8"/>
                </a:solidFill>
                <a:latin typeface="Consolas"/>
              </a:rPr>
              <a:t>docker compose build producer  &amp;&amp;  docker compose up -d producer  &amp;&amp;  docker logs -f taxi-producer
docker exec spark-master /opt/spark/bin/spark-submit --master spark://spark-master:7077 /opt/spark-apps/mapreduce/mr_trips_per_borough.py
docker exec spark-master /opt/spark/bin/spark-submit --master spark://spark-master:7077 /opt/spark-apps/mapreduce/mr_revenue_per_borough.py
docker exec spark-master /opt/spark/bin/spark-submit --master spark://spark-master:7077 /opt/spark-apps/mapreduce/mr_anomaly_counts.py</a:t>
            </a:r>
          </a:p>
        </p:txBody>
      </p:sp>
      <p:sp>
        <p:nvSpPr>
          <p:cNvPr id="31" name="Rectangle 30"/>
          <p:cNvSpPr/>
          <p:nvPr/>
        </p:nvSpPr>
        <p:spPr>
          <a:xfrm>
            <a:off x="320040" y="6565392"/>
            <a:ext cx="11521440" cy="228600"/>
          </a:xfrm>
          <a:prstGeom prst="rect">
            <a:avLst/>
          </a:prstGeom>
          <a:solidFill>
            <a:srgbClr val="09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6574536"/>
            <a:ext cx="3566160" cy="201168"/>
          </a:xfrm>
          <a:prstGeom prst="rect">
            <a:avLst/>
          </a:prstGeom>
          <a:noFill/>
        </p:spPr>
        <p:txBody>
          <a:bodyPr wrap="square">
            <a:spAutoFit/>
          </a:bodyPr>
          <a:lstStyle/>
          <a:p>
            <a:pPr algn="l"/>
            <a:r>
              <a:rPr sz="1200" b="1" i="0">
                <a:solidFill>
                  <a:srgbClr val="00B4D8"/>
                </a:solidFill>
                <a:latin typeface="Calibri"/>
              </a:rPr>
              <a:t>Kafka UI  →  http://localhost:8080</a:t>
            </a:r>
          </a:p>
        </p:txBody>
      </p:sp>
      <p:sp>
        <p:nvSpPr>
          <p:cNvPr id="33" name="TextBox 32"/>
          <p:cNvSpPr txBox="1"/>
          <p:nvPr/>
        </p:nvSpPr>
        <p:spPr>
          <a:xfrm>
            <a:off x="4480560" y="6574536"/>
            <a:ext cx="3566160" cy="201168"/>
          </a:xfrm>
          <a:prstGeom prst="rect">
            <a:avLst/>
          </a:prstGeom>
          <a:noFill/>
        </p:spPr>
        <p:txBody>
          <a:bodyPr wrap="square">
            <a:spAutoFit/>
          </a:bodyPr>
          <a:lstStyle/>
          <a:p>
            <a:pPr algn="l"/>
            <a:r>
              <a:rPr sz="1200" b="1" i="0">
                <a:solidFill>
                  <a:srgbClr val="00B4D8"/>
                </a:solidFill>
                <a:latin typeface="Calibri"/>
              </a:rPr>
              <a:t>Spark UI  →  http://localhost:8090</a:t>
            </a:r>
          </a:p>
        </p:txBody>
      </p:sp>
      <p:sp>
        <p:nvSpPr>
          <p:cNvPr id="34" name="TextBox 33"/>
          <p:cNvSpPr txBox="1"/>
          <p:nvPr/>
        </p:nvSpPr>
        <p:spPr>
          <a:xfrm>
            <a:off x="8321040" y="6574536"/>
            <a:ext cx="3566160" cy="201168"/>
          </a:xfrm>
          <a:prstGeom prst="rect">
            <a:avLst/>
          </a:prstGeom>
          <a:noFill/>
        </p:spPr>
        <p:txBody>
          <a:bodyPr wrap="square">
            <a:spAutoFit/>
          </a:bodyPr>
          <a:lstStyle/>
          <a:p>
            <a:pPr algn="l"/>
            <a:r>
              <a:rPr sz="1200" b="1" i="0">
                <a:solidFill>
                  <a:srgbClr val="00B4D8"/>
                </a:solidFill>
                <a:latin typeface="Calibri"/>
              </a:rPr>
              <a:t>HDFS UI  →  http://localhost:9870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955279" y="0"/>
            <a:ext cx="4233672" cy="6858000"/>
          </a:xfrm>
          <a:prstGeom prst="rect">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955279" y="0"/>
            <a:ext cx="91440"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594360"/>
            <a:ext cx="4572000" cy="320040"/>
          </a:xfrm>
          <a:prstGeom prst="rect">
            <a:avLst/>
          </a:prstGeom>
          <a:noFill/>
        </p:spPr>
        <p:txBody>
          <a:bodyPr wrap="square">
            <a:spAutoFit/>
          </a:bodyPr>
          <a:lstStyle/>
          <a:p>
            <a:pPr algn="l"/>
            <a:r>
              <a:rPr sz="1200" b="1" i="0">
                <a:solidFill>
                  <a:srgbClr val="00B4D8"/>
                </a:solidFill>
                <a:latin typeface="Calibri"/>
              </a:rPr>
              <a:t>SUMMARY</a:t>
            </a:r>
          </a:p>
        </p:txBody>
      </p:sp>
      <p:sp>
        <p:nvSpPr>
          <p:cNvPr id="6" name="TextBox 5"/>
          <p:cNvSpPr txBox="1"/>
          <p:nvPr/>
        </p:nvSpPr>
        <p:spPr>
          <a:xfrm>
            <a:off x="457200" y="960120"/>
            <a:ext cx="7315200" cy="1371600"/>
          </a:xfrm>
          <a:prstGeom prst="rect">
            <a:avLst/>
          </a:prstGeom>
          <a:noFill/>
        </p:spPr>
        <p:txBody>
          <a:bodyPr wrap="square">
            <a:spAutoFit/>
          </a:bodyPr>
          <a:lstStyle/>
          <a:p>
            <a:pPr algn="l"/>
            <a:r>
              <a:rPr sz="3400" b="1" i="0">
                <a:solidFill>
                  <a:srgbClr val="FFFFFF"/>
                </a:solidFill>
                <a:latin typeface="Calibri"/>
              </a:rPr>
              <a:t>What We Built
and Why It Works</a:t>
            </a:r>
          </a:p>
        </p:txBody>
      </p:sp>
      <p:sp>
        <p:nvSpPr>
          <p:cNvPr id="7" name="Rectangle 6"/>
          <p:cNvSpPr/>
          <p:nvPr/>
        </p:nvSpPr>
        <p:spPr>
          <a:xfrm>
            <a:off x="457200" y="2542032"/>
            <a:ext cx="91440" cy="475488"/>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468880"/>
            <a:ext cx="2011680" cy="347472"/>
          </a:xfrm>
          <a:prstGeom prst="rect">
            <a:avLst/>
          </a:prstGeom>
          <a:noFill/>
        </p:spPr>
        <p:txBody>
          <a:bodyPr wrap="square">
            <a:spAutoFit/>
          </a:bodyPr>
          <a:lstStyle/>
          <a:p>
            <a:pPr algn="l"/>
            <a:r>
              <a:rPr sz="1400" b="1" i="0">
                <a:solidFill>
                  <a:srgbClr val="FF8C42"/>
                </a:solidFill>
                <a:latin typeface="Calibri"/>
              </a:rPr>
              <a:t>Problem</a:t>
            </a:r>
          </a:p>
        </p:txBody>
      </p:sp>
      <p:sp>
        <p:nvSpPr>
          <p:cNvPr id="9" name="TextBox 8"/>
          <p:cNvSpPr txBox="1"/>
          <p:nvPr/>
        </p:nvSpPr>
        <p:spPr>
          <a:xfrm>
            <a:off x="685800" y="2816352"/>
            <a:ext cx="7040880" cy="292608"/>
          </a:xfrm>
          <a:prstGeom prst="rect">
            <a:avLst/>
          </a:prstGeom>
          <a:noFill/>
        </p:spPr>
        <p:txBody>
          <a:bodyPr wrap="square">
            <a:spAutoFit/>
          </a:bodyPr>
          <a:lstStyle/>
          <a:p>
            <a:pPr algn="l"/>
            <a:r>
              <a:rPr sz="1200" b="0" i="0">
                <a:solidFill>
                  <a:srgbClr val="B0C4CE"/>
                </a:solidFill>
                <a:latin typeface="Calibri"/>
              </a:rPr>
              <a:t>Raw taxi data: untyped, location-ID-only, no streaming, no aggregation layer</a:t>
            </a:r>
          </a:p>
        </p:txBody>
      </p:sp>
      <p:sp>
        <p:nvSpPr>
          <p:cNvPr id="10" name="Rectangle 9"/>
          <p:cNvSpPr/>
          <p:nvPr/>
        </p:nvSpPr>
        <p:spPr>
          <a:xfrm>
            <a:off x="457200" y="3209544"/>
            <a:ext cx="9144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3136392"/>
            <a:ext cx="2011680" cy="347472"/>
          </a:xfrm>
          <a:prstGeom prst="rect">
            <a:avLst/>
          </a:prstGeom>
          <a:noFill/>
        </p:spPr>
        <p:txBody>
          <a:bodyPr wrap="square">
            <a:spAutoFit/>
          </a:bodyPr>
          <a:lstStyle/>
          <a:p>
            <a:pPr algn="l"/>
            <a:r>
              <a:rPr sz="1400" b="1" i="0">
                <a:solidFill>
                  <a:srgbClr val="00B4D8"/>
                </a:solidFill>
                <a:latin typeface="Calibri"/>
              </a:rPr>
              <a:t>Python Producer</a:t>
            </a:r>
          </a:p>
        </p:txBody>
      </p:sp>
      <p:sp>
        <p:nvSpPr>
          <p:cNvPr id="12" name="TextBox 11"/>
          <p:cNvSpPr txBox="1"/>
          <p:nvPr/>
        </p:nvSpPr>
        <p:spPr>
          <a:xfrm>
            <a:off x="685800" y="3483864"/>
            <a:ext cx="7040880" cy="292608"/>
          </a:xfrm>
          <a:prstGeom prst="rect">
            <a:avLst/>
          </a:prstGeom>
          <a:noFill/>
        </p:spPr>
        <p:txBody>
          <a:bodyPr wrap="square">
            <a:spAutoFit/>
          </a:bodyPr>
          <a:lstStyle/>
          <a:p>
            <a:pPr algn="l"/>
            <a:r>
              <a:rPr sz="1200" b="0" i="0">
                <a:solidFill>
                  <a:srgbClr val="B0C4CE"/>
                </a:solidFill>
                <a:latin typeface="Calibri"/>
              </a:rPr>
              <a:t>Simulates real-time ingestion — CSV → JSON → Kafka at 100 ms/record</a:t>
            </a:r>
          </a:p>
        </p:txBody>
      </p:sp>
      <p:sp>
        <p:nvSpPr>
          <p:cNvPr id="13" name="Rectangle 12"/>
          <p:cNvSpPr/>
          <p:nvPr/>
        </p:nvSpPr>
        <p:spPr>
          <a:xfrm>
            <a:off x="457200" y="3877056"/>
            <a:ext cx="9144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803904"/>
            <a:ext cx="2011680" cy="347472"/>
          </a:xfrm>
          <a:prstGeom prst="rect">
            <a:avLst/>
          </a:prstGeom>
          <a:noFill/>
        </p:spPr>
        <p:txBody>
          <a:bodyPr wrap="square">
            <a:spAutoFit/>
          </a:bodyPr>
          <a:lstStyle/>
          <a:p>
            <a:pPr algn="l"/>
            <a:r>
              <a:rPr sz="1400" b="1" i="0">
                <a:solidFill>
                  <a:srgbClr val="00B4D8"/>
                </a:solidFill>
                <a:latin typeface="Calibri"/>
              </a:rPr>
              <a:t>Kafka</a:t>
            </a:r>
          </a:p>
        </p:txBody>
      </p:sp>
      <p:sp>
        <p:nvSpPr>
          <p:cNvPr id="15" name="TextBox 14"/>
          <p:cNvSpPr txBox="1"/>
          <p:nvPr/>
        </p:nvSpPr>
        <p:spPr>
          <a:xfrm>
            <a:off x="685800" y="4151376"/>
            <a:ext cx="7040880" cy="292608"/>
          </a:xfrm>
          <a:prstGeom prst="rect">
            <a:avLst/>
          </a:prstGeom>
          <a:noFill/>
        </p:spPr>
        <p:txBody>
          <a:bodyPr wrap="square">
            <a:spAutoFit/>
          </a:bodyPr>
          <a:lstStyle/>
          <a:p>
            <a:pPr algn="l"/>
            <a:r>
              <a:rPr sz="1200" b="0" i="0">
                <a:solidFill>
                  <a:srgbClr val="B0C4CE"/>
                </a:solidFill>
                <a:latin typeface="Calibri"/>
              </a:rPr>
              <a:t>Decouples producer speed from Spark; offset tracking enables replay</a:t>
            </a:r>
          </a:p>
        </p:txBody>
      </p:sp>
      <p:sp>
        <p:nvSpPr>
          <p:cNvPr id="16" name="Rectangle 15"/>
          <p:cNvSpPr/>
          <p:nvPr/>
        </p:nvSpPr>
        <p:spPr>
          <a:xfrm>
            <a:off x="457200" y="4544568"/>
            <a:ext cx="9144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471416"/>
            <a:ext cx="2011680" cy="347472"/>
          </a:xfrm>
          <a:prstGeom prst="rect">
            <a:avLst/>
          </a:prstGeom>
          <a:noFill/>
        </p:spPr>
        <p:txBody>
          <a:bodyPr wrap="square">
            <a:spAutoFit/>
          </a:bodyPr>
          <a:lstStyle/>
          <a:p>
            <a:pPr algn="l"/>
            <a:r>
              <a:rPr sz="1400" b="1" i="0">
                <a:solidFill>
                  <a:srgbClr val="00B4D8"/>
                </a:solidFill>
                <a:latin typeface="Calibri"/>
              </a:rPr>
              <a:t>Spark Streaming</a:t>
            </a:r>
          </a:p>
        </p:txBody>
      </p:sp>
      <p:sp>
        <p:nvSpPr>
          <p:cNvPr id="18" name="TextBox 17"/>
          <p:cNvSpPr txBox="1"/>
          <p:nvPr/>
        </p:nvSpPr>
        <p:spPr>
          <a:xfrm>
            <a:off x="685800" y="4818888"/>
            <a:ext cx="7040880" cy="292608"/>
          </a:xfrm>
          <a:prstGeom prst="rect">
            <a:avLst/>
          </a:prstGeom>
          <a:noFill/>
        </p:spPr>
        <p:txBody>
          <a:bodyPr wrap="square">
            <a:spAutoFit/>
          </a:bodyPr>
          <a:lstStyle/>
          <a:p>
            <a:pPr algn="l"/>
            <a:r>
              <a:rPr sz="1200" b="0" i="0">
                <a:solidFill>
                  <a:srgbClr val="B0C4CE"/>
                </a:solidFill>
                <a:latin typeface="Calibri"/>
              </a:rPr>
              <a:t>Cleans types, detects 10 anomaly classes, broadcast-joins 265-zone lookup</a:t>
            </a:r>
          </a:p>
        </p:txBody>
      </p:sp>
      <p:sp>
        <p:nvSpPr>
          <p:cNvPr id="19" name="Rectangle 18"/>
          <p:cNvSpPr/>
          <p:nvPr/>
        </p:nvSpPr>
        <p:spPr>
          <a:xfrm>
            <a:off x="457200" y="5212080"/>
            <a:ext cx="9144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5138928"/>
            <a:ext cx="2011680" cy="347472"/>
          </a:xfrm>
          <a:prstGeom prst="rect">
            <a:avLst/>
          </a:prstGeom>
          <a:noFill/>
        </p:spPr>
        <p:txBody>
          <a:bodyPr wrap="square">
            <a:spAutoFit/>
          </a:bodyPr>
          <a:lstStyle/>
          <a:p>
            <a:pPr algn="l"/>
            <a:r>
              <a:rPr sz="1400" b="1" i="0">
                <a:solidFill>
                  <a:srgbClr val="00B4D8"/>
                </a:solidFill>
                <a:latin typeface="Calibri"/>
              </a:rPr>
              <a:t>HDFS + Parquet</a:t>
            </a:r>
          </a:p>
        </p:txBody>
      </p:sp>
      <p:sp>
        <p:nvSpPr>
          <p:cNvPr id="21" name="TextBox 20"/>
          <p:cNvSpPr txBox="1"/>
          <p:nvPr/>
        </p:nvSpPr>
        <p:spPr>
          <a:xfrm>
            <a:off x="685800" y="5486400"/>
            <a:ext cx="7040880" cy="292608"/>
          </a:xfrm>
          <a:prstGeom prst="rect">
            <a:avLst/>
          </a:prstGeom>
          <a:noFill/>
        </p:spPr>
        <p:txBody>
          <a:bodyPr wrap="square">
            <a:spAutoFit/>
          </a:bodyPr>
          <a:lstStyle/>
          <a:p>
            <a:pPr algn="l"/>
            <a:r>
              <a:rPr sz="1200" b="0" i="0">
                <a:solidFill>
                  <a:srgbClr val="B0C4CE"/>
                </a:solidFill>
                <a:latin typeface="Calibri"/>
              </a:rPr>
              <a:t>3 output paths: clean, joined, anomalies — columnar, compressed, queryable</a:t>
            </a:r>
          </a:p>
        </p:txBody>
      </p:sp>
      <p:sp>
        <p:nvSpPr>
          <p:cNvPr id="22" name="Rectangle 21"/>
          <p:cNvSpPr/>
          <p:nvPr/>
        </p:nvSpPr>
        <p:spPr>
          <a:xfrm>
            <a:off x="457200" y="5879592"/>
            <a:ext cx="9144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5806440"/>
            <a:ext cx="2011680" cy="347472"/>
          </a:xfrm>
          <a:prstGeom prst="rect">
            <a:avLst/>
          </a:prstGeom>
          <a:noFill/>
        </p:spPr>
        <p:txBody>
          <a:bodyPr wrap="square">
            <a:spAutoFit/>
          </a:bodyPr>
          <a:lstStyle/>
          <a:p>
            <a:pPr algn="l"/>
            <a:r>
              <a:rPr sz="1400" b="1" i="0">
                <a:solidFill>
                  <a:srgbClr val="00B4D8"/>
                </a:solidFill>
                <a:latin typeface="Calibri"/>
              </a:rPr>
              <a:t>MapReduce × 3</a:t>
            </a:r>
          </a:p>
        </p:txBody>
      </p:sp>
      <p:sp>
        <p:nvSpPr>
          <p:cNvPr id="24" name="TextBox 23"/>
          <p:cNvSpPr txBox="1"/>
          <p:nvPr/>
        </p:nvSpPr>
        <p:spPr>
          <a:xfrm>
            <a:off x="685800" y="6153912"/>
            <a:ext cx="7040880" cy="292608"/>
          </a:xfrm>
          <a:prstGeom prst="rect">
            <a:avLst/>
          </a:prstGeom>
          <a:noFill/>
        </p:spPr>
        <p:txBody>
          <a:bodyPr wrap="square">
            <a:spAutoFit/>
          </a:bodyPr>
          <a:lstStyle/>
          <a:p>
            <a:pPr algn="l"/>
            <a:r>
              <a:rPr sz="1200" b="0" i="0" dirty="0">
                <a:solidFill>
                  <a:srgbClr val="B0C4CE"/>
                </a:solidFill>
                <a:latin typeface="Calibri"/>
              </a:rPr>
              <a:t>Trips · Revenue · Anomaly counts — all aggregated at borough level</a:t>
            </a:r>
          </a:p>
        </p:txBody>
      </p:sp>
      <p:sp>
        <p:nvSpPr>
          <p:cNvPr id="25" name="TextBox 24"/>
          <p:cNvSpPr txBox="1"/>
          <p:nvPr/>
        </p:nvSpPr>
        <p:spPr>
          <a:xfrm>
            <a:off x="8229600" y="594360"/>
            <a:ext cx="3749039" cy="411480"/>
          </a:xfrm>
          <a:prstGeom prst="rect">
            <a:avLst/>
          </a:prstGeom>
          <a:noFill/>
        </p:spPr>
        <p:txBody>
          <a:bodyPr wrap="square">
            <a:spAutoFit/>
          </a:bodyPr>
          <a:lstStyle/>
          <a:p>
            <a:pPr algn="ctr"/>
            <a:r>
              <a:rPr sz="1500" b="1" i="0">
                <a:solidFill>
                  <a:srgbClr val="FFFFFF"/>
                </a:solidFill>
                <a:latin typeface="Calibri"/>
              </a:rPr>
              <a:t>By the Numbers</a:t>
            </a:r>
          </a:p>
        </p:txBody>
      </p:sp>
      <p:sp>
        <p:nvSpPr>
          <p:cNvPr id="26" name="Rectangle 25"/>
          <p:cNvSpPr/>
          <p:nvPr/>
        </p:nvSpPr>
        <p:spPr>
          <a:xfrm>
            <a:off x="8092440" y="1188720"/>
            <a:ext cx="1920240" cy="14813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92440" y="1353312"/>
            <a:ext cx="1920240" cy="731520"/>
          </a:xfrm>
          <a:prstGeom prst="rect">
            <a:avLst/>
          </a:prstGeom>
          <a:noFill/>
        </p:spPr>
        <p:txBody>
          <a:bodyPr wrap="square">
            <a:spAutoFit/>
          </a:bodyPr>
          <a:lstStyle/>
          <a:p>
            <a:pPr algn="ctr"/>
            <a:r>
              <a:rPr sz="2600" b="1" i="0">
                <a:solidFill>
                  <a:srgbClr val="00B4D8"/>
                </a:solidFill>
                <a:latin typeface="Calibri"/>
              </a:rPr>
              <a:t>50,000</a:t>
            </a:r>
          </a:p>
        </p:txBody>
      </p:sp>
      <p:sp>
        <p:nvSpPr>
          <p:cNvPr id="28" name="TextBox 27"/>
          <p:cNvSpPr txBox="1"/>
          <p:nvPr/>
        </p:nvSpPr>
        <p:spPr>
          <a:xfrm>
            <a:off x="8092440" y="2057400"/>
            <a:ext cx="1920240" cy="457200"/>
          </a:xfrm>
          <a:prstGeom prst="rect">
            <a:avLst/>
          </a:prstGeom>
          <a:noFill/>
        </p:spPr>
        <p:txBody>
          <a:bodyPr wrap="square">
            <a:spAutoFit/>
          </a:bodyPr>
          <a:lstStyle/>
          <a:p>
            <a:pPr algn="ctr"/>
            <a:r>
              <a:rPr sz="1100" b="0" i="0">
                <a:solidFill>
                  <a:srgbClr val="B0C4CE"/>
                </a:solidFill>
                <a:latin typeface="Calibri"/>
              </a:rPr>
              <a:t>Records ingested</a:t>
            </a:r>
          </a:p>
        </p:txBody>
      </p:sp>
      <p:sp>
        <p:nvSpPr>
          <p:cNvPr id="29" name="Rectangle 28"/>
          <p:cNvSpPr/>
          <p:nvPr/>
        </p:nvSpPr>
        <p:spPr>
          <a:xfrm>
            <a:off x="10195559" y="1188720"/>
            <a:ext cx="1920240" cy="14813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195559" y="1353312"/>
            <a:ext cx="1920240" cy="731520"/>
          </a:xfrm>
          <a:prstGeom prst="rect">
            <a:avLst/>
          </a:prstGeom>
          <a:noFill/>
        </p:spPr>
        <p:txBody>
          <a:bodyPr wrap="square">
            <a:spAutoFit/>
          </a:bodyPr>
          <a:lstStyle/>
          <a:p>
            <a:pPr algn="ctr"/>
            <a:r>
              <a:rPr sz="2600" b="1" i="0">
                <a:solidFill>
                  <a:srgbClr val="00B4D8"/>
                </a:solidFill>
                <a:latin typeface="Calibri"/>
              </a:rPr>
              <a:t>8</a:t>
            </a:r>
          </a:p>
        </p:txBody>
      </p:sp>
      <p:sp>
        <p:nvSpPr>
          <p:cNvPr id="31" name="TextBox 30"/>
          <p:cNvSpPr txBox="1"/>
          <p:nvPr/>
        </p:nvSpPr>
        <p:spPr>
          <a:xfrm>
            <a:off x="10195559" y="2057400"/>
            <a:ext cx="1920240" cy="457200"/>
          </a:xfrm>
          <a:prstGeom prst="rect">
            <a:avLst/>
          </a:prstGeom>
          <a:noFill/>
        </p:spPr>
        <p:txBody>
          <a:bodyPr wrap="square">
            <a:spAutoFit/>
          </a:bodyPr>
          <a:lstStyle/>
          <a:p>
            <a:pPr algn="ctr"/>
            <a:r>
              <a:rPr sz="1100" b="0" i="0">
                <a:solidFill>
                  <a:srgbClr val="B0C4CE"/>
                </a:solidFill>
                <a:latin typeface="Calibri"/>
              </a:rPr>
              <a:t>Docker containers</a:t>
            </a:r>
          </a:p>
        </p:txBody>
      </p:sp>
      <p:sp>
        <p:nvSpPr>
          <p:cNvPr id="32" name="Rectangle 31"/>
          <p:cNvSpPr/>
          <p:nvPr/>
        </p:nvSpPr>
        <p:spPr>
          <a:xfrm>
            <a:off x="8092440" y="2880360"/>
            <a:ext cx="1920240" cy="14813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92440" y="3044952"/>
            <a:ext cx="1920240" cy="731520"/>
          </a:xfrm>
          <a:prstGeom prst="rect">
            <a:avLst/>
          </a:prstGeom>
          <a:noFill/>
        </p:spPr>
        <p:txBody>
          <a:bodyPr wrap="square">
            <a:spAutoFit/>
          </a:bodyPr>
          <a:lstStyle/>
          <a:p>
            <a:pPr algn="ctr"/>
            <a:r>
              <a:rPr sz="2600" b="1" i="0">
                <a:solidFill>
                  <a:srgbClr val="00B4D8"/>
                </a:solidFill>
                <a:latin typeface="Calibri"/>
              </a:rPr>
              <a:t>10</a:t>
            </a:r>
          </a:p>
        </p:txBody>
      </p:sp>
      <p:sp>
        <p:nvSpPr>
          <p:cNvPr id="34" name="TextBox 33"/>
          <p:cNvSpPr txBox="1"/>
          <p:nvPr/>
        </p:nvSpPr>
        <p:spPr>
          <a:xfrm>
            <a:off x="8092440" y="3749040"/>
            <a:ext cx="1920240" cy="457200"/>
          </a:xfrm>
          <a:prstGeom prst="rect">
            <a:avLst/>
          </a:prstGeom>
          <a:noFill/>
        </p:spPr>
        <p:txBody>
          <a:bodyPr wrap="square">
            <a:spAutoFit/>
          </a:bodyPr>
          <a:lstStyle/>
          <a:p>
            <a:pPr algn="ctr"/>
            <a:r>
              <a:rPr sz="1100" b="0" i="0">
                <a:solidFill>
                  <a:srgbClr val="B0C4CE"/>
                </a:solidFill>
                <a:latin typeface="Calibri"/>
              </a:rPr>
              <a:t>Anomaly rules</a:t>
            </a:r>
          </a:p>
        </p:txBody>
      </p:sp>
      <p:sp>
        <p:nvSpPr>
          <p:cNvPr id="35" name="Rectangle 34"/>
          <p:cNvSpPr/>
          <p:nvPr/>
        </p:nvSpPr>
        <p:spPr>
          <a:xfrm>
            <a:off x="10195559" y="2880360"/>
            <a:ext cx="1920240" cy="14813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195559" y="3044952"/>
            <a:ext cx="1920240" cy="731520"/>
          </a:xfrm>
          <a:prstGeom prst="rect">
            <a:avLst/>
          </a:prstGeom>
          <a:noFill/>
        </p:spPr>
        <p:txBody>
          <a:bodyPr wrap="square">
            <a:spAutoFit/>
          </a:bodyPr>
          <a:lstStyle/>
          <a:p>
            <a:pPr algn="ctr"/>
            <a:r>
              <a:rPr sz="2600" b="1" i="0">
                <a:solidFill>
                  <a:srgbClr val="00B4D8"/>
                </a:solidFill>
                <a:latin typeface="Calibri"/>
              </a:rPr>
              <a:t>3</a:t>
            </a:r>
          </a:p>
        </p:txBody>
      </p:sp>
      <p:sp>
        <p:nvSpPr>
          <p:cNvPr id="37" name="TextBox 36"/>
          <p:cNvSpPr txBox="1"/>
          <p:nvPr/>
        </p:nvSpPr>
        <p:spPr>
          <a:xfrm>
            <a:off x="10195559" y="3749040"/>
            <a:ext cx="1920240" cy="457200"/>
          </a:xfrm>
          <a:prstGeom prst="rect">
            <a:avLst/>
          </a:prstGeom>
          <a:noFill/>
        </p:spPr>
        <p:txBody>
          <a:bodyPr wrap="square">
            <a:spAutoFit/>
          </a:bodyPr>
          <a:lstStyle/>
          <a:p>
            <a:pPr algn="ctr"/>
            <a:r>
              <a:rPr sz="1100" b="0" i="0">
                <a:solidFill>
                  <a:srgbClr val="B0C4CE"/>
                </a:solidFill>
                <a:latin typeface="Calibri"/>
              </a:rPr>
              <a:t>MapReduce jobs</a:t>
            </a:r>
          </a:p>
        </p:txBody>
      </p:sp>
      <p:sp>
        <p:nvSpPr>
          <p:cNvPr id="38" name="Rectangle 37"/>
          <p:cNvSpPr/>
          <p:nvPr/>
        </p:nvSpPr>
        <p:spPr>
          <a:xfrm>
            <a:off x="8092440" y="4572000"/>
            <a:ext cx="1920240" cy="14813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092440" y="4736592"/>
            <a:ext cx="1920240" cy="731520"/>
          </a:xfrm>
          <a:prstGeom prst="rect">
            <a:avLst/>
          </a:prstGeom>
          <a:noFill/>
        </p:spPr>
        <p:txBody>
          <a:bodyPr wrap="square">
            <a:spAutoFit/>
          </a:bodyPr>
          <a:lstStyle/>
          <a:p>
            <a:pPr algn="ctr"/>
            <a:r>
              <a:rPr sz="2600" b="1" i="0">
                <a:solidFill>
                  <a:srgbClr val="00B4D8"/>
                </a:solidFill>
                <a:latin typeface="Calibri"/>
              </a:rPr>
              <a:t>265</a:t>
            </a:r>
          </a:p>
        </p:txBody>
      </p:sp>
      <p:sp>
        <p:nvSpPr>
          <p:cNvPr id="40" name="TextBox 39"/>
          <p:cNvSpPr txBox="1"/>
          <p:nvPr/>
        </p:nvSpPr>
        <p:spPr>
          <a:xfrm>
            <a:off x="8092440" y="5440680"/>
            <a:ext cx="1920240" cy="457200"/>
          </a:xfrm>
          <a:prstGeom prst="rect">
            <a:avLst/>
          </a:prstGeom>
          <a:noFill/>
        </p:spPr>
        <p:txBody>
          <a:bodyPr wrap="square">
            <a:spAutoFit/>
          </a:bodyPr>
          <a:lstStyle/>
          <a:p>
            <a:pPr algn="ctr"/>
            <a:r>
              <a:rPr sz="1100" b="0" i="0">
                <a:solidFill>
                  <a:srgbClr val="B0C4CE"/>
                </a:solidFill>
                <a:latin typeface="Calibri"/>
              </a:rPr>
              <a:t>Zones joined</a:t>
            </a:r>
          </a:p>
        </p:txBody>
      </p:sp>
      <p:sp>
        <p:nvSpPr>
          <p:cNvPr id="41" name="Rectangle 40"/>
          <p:cNvSpPr/>
          <p:nvPr/>
        </p:nvSpPr>
        <p:spPr>
          <a:xfrm>
            <a:off x="10195559" y="4572000"/>
            <a:ext cx="1920240" cy="14813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195559" y="4736592"/>
            <a:ext cx="1920240" cy="731520"/>
          </a:xfrm>
          <a:prstGeom prst="rect">
            <a:avLst/>
          </a:prstGeom>
          <a:noFill/>
        </p:spPr>
        <p:txBody>
          <a:bodyPr wrap="square">
            <a:spAutoFit/>
          </a:bodyPr>
          <a:lstStyle/>
          <a:p>
            <a:pPr algn="ctr"/>
            <a:r>
              <a:rPr sz="2600" b="1" i="0">
                <a:solidFill>
                  <a:srgbClr val="00B4D8"/>
                </a:solidFill>
                <a:latin typeface="Calibri"/>
              </a:rPr>
              <a:t>Parquet</a:t>
            </a:r>
          </a:p>
        </p:txBody>
      </p:sp>
      <p:sp>
        <p:nvSpPr>
          <p:cNvPr id="43" name="TextBox 42"/>
          <p:cNvSpPr txBox="1"/>
          <p:nvPr/>
        </p:nvSpPr>
        <p:spPr>
          <a:xfrm>
            <a:off x="10195559" y="5440680"/>
            <a:ext cx="1920240" cy="457200"/>
          </a:xfrm>
          <a:prstGeom prst="rect">
            <a:avLst/>
          </a:prstGeom>
          <a:noFill/>
        </p:spPr>
        <p:txBody>
          <a:bodyPr wrap="square">
            <a:spAutoFit/>
          </a:bodyPr>
          <a:lstStyle/>
          <a:p>
            <a:pPr algn="ctr"/>
            <a:r>
              <a:rPr sz="1100" b="0" i="0">
                <a:solidFill>
                  <a:srgbClr val="B0C4CE"/>
                </a:solidFill>
                <a:latin typeface="Calibri"/>
              </a:rPr>
              <a:t>Output format</a:t>
            </a:r>
          </a:p>
        </p:txBody>
      </p:sp>
      <p:sp>
        <p:nvSpPr>
          <p:cNvPr id="44" name="TextBox 43"/>
          <p:cNvSpPr txBox="1"/>
          <p:nvPr/>
        </p:nvSpPr>
        <p:spPr>
          <a:xfrm>
            <a:off x="457200" y="6446520"/>
            <a:ext cx="7315200" cy="347472"/>
          </a:xfrm>
          <a:prstGeom prst="rect">
            <a:avLst/>
          </a:prstGeom>
          <a:noFill/>
        </p:spPr>
        <p:txBody>
          <a:bodyPr wrap="square">
            <a:spAutoFit/>
          </a:bodyPr>
          <a:lstStyle/>
          <a:p>
            <a:pPr algn="l"/>
            <a:r>
              <a:rPr sz="2200" b="1" i="0">
                <a:solidFill>
                  <a:srgbClr val="00B4D8"/>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2885</Words>
  <Application>Microsoft Office PowerPoint</Application>
  <PresentationFormat>Custom</PresentationFormat>
  <Paragraphs>292</Paragraphs>
  <Slides>10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mariem chatti</cp:lastModifiedBy>
  <cp:revision>2</cp:revision>
  <dcterms:created xsi:type="dcterms:W3CDTF">2013-01-27T09:14:16Z</dcterms:created>
  <dcterms:modified xsi:type="dcterms:W3CDTF">2026-06-05T07:51:45Z</dcterms:modified>
  <cp:category/>
</cp:coreProperties>
</file>